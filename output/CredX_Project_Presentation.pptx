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20833" r="20833"/>
          <a:stretch>
            <a:fillRect/>
          </a:stretch>
        </p:blipFill>
        <p:spPr>
          <a:xfrm>
            <a:off x="6191250" y="0"/>
            <a:ext cx="6000750" cy="6858000"/>
          </a:xfrm>
          <a:prstGeom prst="roundRect">
            <a:avLst>
              <a:gd name="adj" fmla="val 1905"/>
            </a:avLst>
          </a:prstGeom>
        </p:spPr>
      </p:pic>
      <p:sp>
        <p:nvSpPr>
          <p:cNvPr id="2" name="cover-accent">
            <a:extLst>
              <a:ext uri="{FF2B5EF4-FFF2-40B4-BE49-F238E27FC236}">
                <a16:creationId xmlns:a16="http://schemas.microsoft.com/office/drawing/2014/main" id="{DC3F2F9B-6416-4CA9-9C63-B3C00936A9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4512F"/>
          </a:solidFill>
          <a:ln w="0">
            <a:solidFill>
              <a:srgbClr val="E4512F"/>
            </a:solidFill>
            <a:prstDash val="solid"/>
          </a:ln>
        </p:spPr>
      </p:sp>
      <p:sp>
        <p:nvSpPr>
          <p:cNvPr id="3" name="cover-kicker">
            <a:extLst>
              <a:ext uri="{FF2B5EF4-FFF2-40B4-BE49-F238E27FC236}">
                <a16:creationId xmlns:a16="http://schemas.microsoft.com/office/drawing/2014/main" id="{6E1A1368-BF33-4380-9AC7-ECF606802878}"/>
              </a:ext>
            </a:extLst>
          </p:cNvPr>
          <p:cNvSpPr>
            <a:spLocks noGrp="1"/>
          </p:cNvSpPr>
          <p:nvPr/>
        </p:nvSpPr>
        <p:spPr>
          <a:xfrm>
            <a:off x="704850" y="7810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E4512F"/>
                </a:solidFill>
              </a:defRPr>
            </a:pPr>
            <a:r>
              <a:rPr sz="1200" b="1">
                <a:solidFill>
                  <a:srgbClr val="E4512F"/>
                </a:solidFill>
              </a:rPr>
              <a:t>SMART JOB MATCHING DASHBOARD</a:t>
            </a:r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60EA3AB3-10AE-4D9F-AD1B-85E4C472D4D8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476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800" b="1">
                <a:solidFill>
                  <a:srgbClr val="172026"/>
                </a:solidFill>
              </a:defRPr>
            </a:pPr>
            <a:r>
              <a:rPr sz="4800" b="1">
                <a:solidFill>
                  <a:srgbClr val="172026"/>
                </a:solidFill>
              </a:rPr>
              <a:t>CredX</a:t>
            </a: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77843B1B-2B66-41F5-B313-F63605CABBCD}"/>
              </a:ext>
            </a:extLst>
          </p:cNvPr>
          <p:cNvSpPr>
            <a:spLocks noGrp="1"/>
          </p:cNvSpPr>
          <p:nvPr/>
        </p:nvSpPr>
        <p:spPr>
          <a:xfrm>
            <a:off x="704850" y="2476500"/>
            <a:ext cx="4762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72026"/>
                </a:solidFill>
              </a:defRPr>
            </a:pPr>
            <a:r>
              <a:rPr sz="2850" b="1">
                <a:solidFill>
                  <a:srgbClr val="172026"/>
                </a:solidFill>
              </a:rPr>
              <a:t>Ranked opportunities.</a:t>
            </a:r>
          </a:p>
          <a:p>
            <a:pPr algn="l">
              <a:defRPr sz="2850" b="1">
                <a:solidFill>
                  <a:srgbClr val="172026"/>
                </a:solidFill>
              </a:defRPr>
            </a:pPr>
            <a:r>
              <a:rPr sz="2850" b="1">
                <a:solidFill>
                  <a:srgbClr val="172026"/>
                </a:solidFill>
              </a:rPr>
              <a:t>Visible reasons.</a:t>
            </a:r>
          </a:p>
          <a:p>
            <a:pPr algn="l">
              <a:defRPr sz="2850" b="1">
                <a:solidFill>
                  <a:srgbClr val="172026"/>
                </a:solidFill>
              </a:defRPr>
            </a:pPr>
            <a:r>
              <a:rPr sz="2850" b="1">
                <a:solidFill>
                  <a:srgbClr val="172026"/>
                </a:solidFill>
              </a:rPr>
              <a:t>Better decisions.</a:t>
            </a:r>
          </a:p>
        </p:txBody>
      </p:sp>
      <p:sp>
        <p:nvSpPr>
          <p:cNvPr id="6" name="cover-body">
            <a:extLst>
              <a:ext uri="{FF2B5EF4-FFF2-40B4-BE49-F238E27FC236}">
                <a16:creationId xmlns:a16="http://schemas.microsoft.com/office/drawing/2014/main" id="{EDFA52F1-7252-4CE2-9D8A-2D9C15281A75}"/>
              </a:ext>
            </a:extLst>
          </p:cNvPr>
          <p:cNvSpPr>
            <a:spLocks noGrp="1"/>
          </p:cNvSpPr>
          <p:nvPr/>
        </p:nvSpPr>
        <p:spPr>
          <a:xfrm>
            <a:off x="704850" y="4686300"/>
            <a:ext cx="476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3616D"/>
                </a:solidFill>
              </a:defRPr>
            </a:pPr>
            <a:r>
              <a:rPr sz="1650" b="0">
                <a:solidFill>
                  <a:srgbClr val="53616D"/>
                </a:solidFill>
              </a:rPr>
              <a:t>An explainable job and internship matching platform for students and recruiters.</a:t>
            </a:r>
          </a:p>
        </p:txBody>
      </p:sp>
      <p:sp>
        <p:nvSpPr>
          <p:cNvPr id="7" name="pill-Explainable by design">
            <a:extLst>
              <a:ext uri="{FF2B5EF4-FFF2-40B4-BE49-F238E27FC236}">
                <a16:creationId xmlns:a16="http://schemas.microsoft.com/office/drawing/2014/main" id="{93EA08AC-86A9-490C-A7B6-FB4DCD73C47B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2190750" cy="361950"/>
          </a:xfrm>
          <a:prstGeom prst="roundRect">
            <a:avLst>
              <a:gd name="adj" fmla="val 50000"/>
            </a:avLst>
          </a:prstGeom>
          <a:solidFill>
            <a:srgbClr val="FFF0EA"/>
          </a:solidFill>
          <a:ln w="9525">
            <a:solidFill>
              <a:srgbClr val="FFF0EA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B93D22"/>
                </a:solidFill>
              </a:defRPr>
            </a:pPr>
            <a:r>
              <a:rPr sz="1200" b="1">
                <a:solidFill>
                  <a:srgbClr val="B93D22"/>
                </a:solidFill>
              </a:rPr>
              <a:t>Explainable by design</a:t>
            </a:r>
          </a:p>
        </p:txBody>
      </p:sp>
    </p:spTree>
    <p:extLst>
      <p:ext uri="{BB962C8B-B14F-4D97-AF65-F5344CB8AC3E}">
        <p14:creationId xmlns:p14="http://schemas.microsoft.com/office/powerpoint/2010/main" val="1671484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-2">
            <a:extLst>
              <a:ext uri="{FF2B5EF4-FFF2-40B4-BE49-F238E27FC236}">
                <a16:creationId xmlns:a16="http://schemas.microsoft.com/office/drawing/2014/main" id="{A4312AE2-8C4F-42B2-A617-19F602E60E16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E4512F"/>
                </a:solidFill>
              </a:defRPr>
            </a:pPr>
            <a:r>
              <a:rPr sz="1050" b="1">
                <a:solidFill>
                  <a:srgbClr val="E4512F"/>
                </a:solidFill>
              </a:rPr>
              <a:t>THE PROBLEM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A582621C-FD51-40C2-B9D2-71E914893686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72026"/>
                </a:solidFill>
              </a:defRPr>
            </a:pPr>
            <a:r>
              <a:rPr sz="2850" b="1" dirty="0">
                <a:solidFill>
                  <a:srgbClr val="172026"/>
                </a:solidFill>
              </a:rPr>
              <a:t>A filtered list is not a useful recommendation</a:t>
            </a:r>
          </a:p>
        </p:txBody>
      </p:sp>
      <p:sp>
        <p:nvSpPr>
          <p:cNvPr id="3" name="page-2">
            <a:extLst>
              <a:ext uri="{FF2B5EF4-FFF2-40B4-BE49-F238E27FC236}">
                <a16:creationId xmlns:a16="http://schemas.microsoft.com/office/drawing/2014/main" id="{91675C1A-A275-414F-B982-6C904412E496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3616D"/>
                </a:solidFill>
              </a:defRPr>
            </a:pPr>
            <a:r>
              <a:rPr sz="975" b="1">
                <a:solidFill>
                  <a:srgbClr val="53616D"/>
                </a:solidFill>
              </a:rPr>
              <a:t>02</a:t>
            </a:r>
          </a:p>
        </p:txBody>
      </p:sp>
      <p:sp>
        <p:nvSpPr>
          <p:cNvPr id="4" name="problem-thesis">
            <a:extLst>
              <a:ext uri="{FF2B5EF4-FFF2-40B4-BE49-F238E27FC236}">
                <a16:creationId xmlns:a16="http://schemas.microsoft.com/office/drawing/2014/main" id="{E9579FAD-5EA0-4D57-91CF-C6BC8B5A131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762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172026"/>
                </a:solidFill>
              </a:defRPr>
            </a:pPr>
            <a:r>
              <a:rPr sz="2175" b="1" dirty="0">
                <a:solidFill>
                  <a:srgbClr val="172026"/>
                </a:solidFill>
              </a:rPr>
              <a:t>Students can find hundreds of roles — but cannot tell which ones truly fit.</a:t>
            </a:r>
          </a:p>
        </p:txBody>
      </p:sp>
      <p:sp>
        <p:nvSpPr>
          <p:cNvPr id="5" name="problem-0">
            <a:extLst>
              <a:ext uri="{FF2B5EF4-FFF2-40B4-BE49-F238E27FC236}">
                <a16:creationId xmlns:a16="http://schemas.microsoft.com/office/drawing/2014/main" id="{46732C3D-3990-4A6C-90B4-4C88CFB58293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7239000" cy="800100"/>
          </a:xfrm>
          <a:prstGeom prst="roundRect">
            <a:avLst>
              <a:gd name="adj" fmla="val 14286"/>
            </a:avLst>
          </a:prstGeom>
          <a:solidFill>
            <a:srgbClr val="FFEDEA"/>
          </a:solidFill>
          <a:ln w="9525">
            <a:solidFill>
              <a:srgbClr val="FFEDEA"/>
            </a:solidFill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DB97812-D8EB-4EF5-A236-DD66A7729AB4}"/>
              </a:ext>
            </a:extLst>
          </p:cNvPr>
          <p:cNvSpPr>
            <a:spLocks noGrp="1"/>
          </p:cNvSpPr>
          <p:nvPr/>
        </p:nvSpPr>
        <p:spPr>
          <a:xfrm>
            <a:off x="933450" y="3114675"/>
            <a:ext cx="133350" cy="133350"/>
          </a:xfrm>
          <a:prstGeom prst="ellipse">
            <a:avLst/>
          </a:prstGeom>
          <a:solidFill>
            <a:srgbClr val="C33B27"/>
          </a:solidFill>
          <a:ln w="0">
            <a:solidFill>
              <a:srgbClr val="C33B27"/>
            </a:solidFill>
            <a:prstDash val="solid"/>
          </a:ln>
        </p:spPr>
      </p:sp>
      <p:sp>
        <p:nvSpPr>
          <p:cNvPr id="7" name="problem-h-0">
            <a:extLst>
              <a:ext uri="{FF2B5EF4-FFF2-40B4-BE49-F238E27FC236}">
                <a16:creationId xmlns:a16="http://schemas.microsoft.com/office/drawing/2014/main" id="{796366DD-31B3-4844-9E22-99B4B2D7004D}"/>
              </a:ext>
            </a:extLst>
          </p:cNvPr>
          <p:cNvSpPr>
            <a:spLocks noGrp="1"/>
          </p:cNvSpPr>
          <p:nvPr/>
        </p:nvSpPr>
        <p:spPr>
          <a:xfrm>
            <a:off x="1219200" y="28765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2026"/>
                </a:solidFill>
              </a:defRPr>
            </a:pPr>
            <a:r>
              <a:rPr sz="1500" b="1">
                <a:solidFill>
                  <a:srgbClr val="172026"/>
                </a:solidFill>
              </a:rPr>
              <a:t>Too much noise</a:t>
            </a:r>
          </a:p>
        </p:txBody>
      </p:sp>
      <p:sp>
        <p:nvSpPr>
          <p:cNvPr id="8" name="problem-b-0">
            <a:extLst>
              <a:ext uri="{FF2B5EF4-FFF2-40B4-BE49-F238E27FC236}">
                <a16:creationId xmlns:a16="http://schemas.microsoft.com/office/drawing/2014/main" id="{0D32F8E0-4C17-48B1-B4C9-A77FBA5A96EF}"/>
              </a:ext>
            </a:extLst>
          </p:cNvPr>
          <p:cNvSpPr>
            <a:spLocks noGrp="1"/>
          </p:cNvSpPr>
          <p:nvPr/>
        </p:nvSpPr>
        <p:spPr>
          <a:xfrm>
            <a:off x="3714750" y="2867025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Relevant roles are buried inside broad search results.</a:t>
            </a:r>
          </a:p>
        </p:txBody>
      </p:sp>
      <p:sp>
        <p:nvSpPr>
          <p:cNvPr id="9" name="problem-1">
            <a:extLst>
              <a:ext uri="{FF2B5EF4-FFF2-40B4-BE49-F238E27FC236}">
                <a16:creationId xmlns:a16="http://schemas.microsoft.com/office/drawing/2014/main" id="{635DA999-DD4A-41AB-91B7-7DB1B4090CBA}"/>
              </a:ext>
            </a:extLst>
          </p:cNvPr>
          <p:cNvSpPr>
            <a:spLocks noGrp="1"/>
          </p:cNvSpPr>
          <p:nvPr/>
        </p:nvSpPr>
        <p:spPr>
          <a:xfrm>
            <a:off x="685800" y="3781425"/>
            <a:ext cx="7239000" cy="800100"/>
          </a:xfrm>
          <a:prstGeom prst="roundRect">
            <a:avLst>
              <a:gd name="adj" fmla="val 14286"/>
            </a:avLst>
          </a:prstGeom>
          <a:solidFill>
            <a:srgbClr val="FFF8DB"/>
          </a:solidFill>
          <a:ln w="9525">
            <a:solidFill>
              <a:srgbClr val="FFF8DB"/>
            </a:solidFill>
            <a:prstDash val="solid"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7AC296B-B8D0-4E55-AC3B-1F4EC552DF44}"/>
              </a:ext>
            </a:extLst>
          </p:cNvPr>
          <p:cNvSpPr>
            <a:spLocks noGrp="1"/>
          </p:cNvSpPr>
          <p:nvPr/>
        </p:nvSpPr>
        <p:spPr>
          <a:xfrm>
            <a:off x="933450" y="4114800"/>
            <a:ext cx="133350" cy="133350"/>
          </a:xfrm>
          <a:prstGeom prst="ellipse">
            <a:avLst/>
          </a:prstGeom>
          <a:solidFill>
            <a:srgbClr val="E8A302"/>
          </a:solidFill>
          <a:ln w="0">
            <a:solidFill>
              <a:srgbClr val="E8A302"/>
            </a:solidFill>
            <a:prstDash val="solid"/>
          </a:ln>
        </p:spPr>
      </p:sp>
      <p:sp>
        <p:nvSpPr>
          <p:cNvPr id="11" name="problem-h-1">
            <a:extLst>
              <a:ext uri="{FF2B5EF4-FFF2-40B4-BE49-F238E27FC236}">
                <a16:creationId xmlns:a16="http://schemas.microsoft.com/office/drawing/2014/main" id="{B2CCA8A8-6703-4D54-8A18-F9EA9A0FD77C}"/>
              </a:ext>
            </a:extLst>
          </p:cNvPr>
          <p:cNvSpPr>
            <a:spLocks noGrp="1"/>
          </p:cNvSpPr>
          <p:nvPr/>
        </p:nvSpPr>
        <p:spPr>
          <a:xfrm>
            <a:off x="1219200" y="387667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2026"/>
                </a:solidFill>
              </a:defRPr>
            </a:pPr>
            <a:r>
              <a:rPr sz="1500" b="1">
                <a:solidFill>
                  <a:srgbClr val="172026"/>
                </a:solidFill>
              </a:rPr>
              <a:t>No visible reasoning</a:t>
            </a:r>
          </a:p>
        </p:txBody>
      </p:sp>
      <p:sp>
        <p:nvSpPr>
          <p:cNvPr id="12" name="problem-b-1">
            <a:extLst>
              <a:ext uri="{FF2B5EF4-FFF2-40B4-BE49-F238E27FC236}">
                <a16:creationId xmlns:a16="http://schemas.microsoft.com/office/drawing/2014/main" id="{B8743C44-95AF-4AE2-81C1-20E3AFFEE64B}"/>
              </a:ext>
            </a:extLst>
          </p:cNvPr>
          <p:cNvSpPr>
            <a:spLocks noGrp="1"/>
          </p:cNvSpPr>
          <p:nvPr/>
        </p:nvSpPr>
        <p:spPr>
          <a:xfrm>
            <a:off x="3714750" y="3867150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A score without evidence does not build trust.</a:t>
            </a:r>
          </a:p>
        </p:txBody>
      </p:sp>
      <p:sp>
        <p:nvSpPr>
          <p:cNvPr id="13" name="problem-2">
            <a:extLst>
              <a:ext uri="{FF2B5EF4-FFF2-40B4-BE49-F238E27FC236}">
                <a16:creationId xmlns:a16="http://schemas.microsoft.com/office/drawing/2014/main" id="{25A55D5F-B337-4209-9D84-93C50D340449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7239000" cy="800100"/>
          </a:xfrm>
          <a:prstGeom prst="roundRect">
            <a:avLst>
              <a:gd name="adj" fmla="val 14286"/>
            </a:avLst>
          </a:prstGeom>
          <a:solidFill>
            <a:srgbClr val="EAF5FF"/>
          </a:solidFill>
          <a:ln w="9525">
            <a:solidFill>
              <a:srgbClr val="EAF5FF"/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3F4CE3-962A-4838-8932-9BDACB1389F9}"/>
              </a:ext>
            </a:extLst>
          </p:cNvPr>
          <p:cNvSpPr>
            <a:spLocks noGrp="1"/>
          </p:cNvSpPr>
          <p:nvPr/>
        </p:nvSpPr>
        <p:spPr>
          <a:xfrm>
            <a:off x="933450" y="5114925"/>
            <a:ext cx="133350" cy="133350"/>
          </a:xfrm>
          <a:prstGeom prst="ellipse">
            <a:avLst/>
          </a:prstGeom>
          <a:solidFill>
            <a:srgbClr val="3DADFF"/>
          </a:solidFill>
          <a:ln w="0">
            <a:solidFill>
              <a:srgbClr val="3DADFF"/>
            </a:solidFill>
            <a:prstDash val="solid"/>
          </a:ln>
        </p:spPr>
      </p:sp>
      <p:sp>
        <p:nvSpPr>
          <p:cNvPr id="15" name="problem-h-2">
            <a:extLst>
              <a:ext uri="{FF2B5EF4-FFF2-40B4-BE49-F238E27FC236}">
                <a16:creationId xmlns:a16="http://schemas.microsoft.com/office/drawing/2014/main" id="{0711DB5A-26D5-4AD9-A405-799A7F2A4FA5}"/>
              </a:ext>
            </a:extLst>
          </p:cNvPr>
          <p:cNvSpPr>
            <a:spLocks noGrp="1"/>
          </p:cNvSpPr>
          <p:nvPr/>
        </p:nvSpPr>
        <p:spPr>
          <a:xfrm>
            <a:off x="1219200" y="5070348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2026"/>
                </a:solidFill>
              </a:defRPr>
            </a:pPr>
            <a:r>
              <a:rPr sz="1500" b="1" dirty="0">
                <a:solidFill>
                  <a:srgbClr val="172026"/>
                </a:solidFill>
              </a:rPr>
              <a:t>Critical constraints arrive late</a:t>
            </a:r>
          </a:p>
        </p:txBody>
      </p:sp>
      <p:sp>
        <p:nvSpPr>
          <p:cNvPr id="16" name="problem-b-2">
            <a:extLst>
              <a:ext uri="{FF2B5EF4-FFF2-40B4-BE49-F238E27FC236}">
                <a16:creationId xmlns:a16="http://schemas.microsoft.com/office/drawing/2014/main" id="{9ED86601-F1DA-4951-96AE-6DF97B51132B}"/>
              </a:ext>
            </a:extLst>
          </p:cNvPr>
          <p:cNvSpPr>
            <a:spLocks noGrp="1"/>
          </p:cNvSpPr>
          <p:nvPr/>
        </p:nvSpPr>
        <p:spPr>
          <a:xfrm>
            <a:off x="3714750" y="4867275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GPA and sponsorship mismatches waste time.</a:t>
            </a:r>
          </a:p>
        </p:txBody>
      </p:sp>
      <p:sp>
        <p:nvSpPr>
          <p:cNvPr id="17" name="neq">
            <a:extLst>
              <a:ext uri="{FF2B5EF4-FFF2-40B4-BE49-F238E27FC236}">
                <a16:creationId xmlns:a16="http://schemas.microsoft.com/office/drawing/2014/main" id="{6E1DF2DA-4A01-4039-BC7B-9F181F551083}"/>
              </a:ext>
            </a:extLst>
          </p:cNvPr>
          <p:cNvSpPr>
            <a:spLocks noGrp="1"/>
          </p:cNvSpPr>
          <p:nvPr/>
        </p:nvSpPr>
        <p:spPr>
          <a:xfrm>
            <a:off x="8715375" y="2571750"/>
            <a:ext cx="2476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600" b="1">
                <a:solidFill>
                  <a:srgbClr val="E4512F"/>
                </a:solidFill>
              </a:defRPr>
            </a:pPr>
            <a:r>
              <a:rPr sz="3600" b="1">
                <a:solidFill>
                  <a:srgbClr val="E4512F"/>
                </a:solidFill>
              </a:rPr>
              <a:t>FILTERED</a:t>
            </a:r>
          </a:p>
          <a:p>
            <a:pPr algn="ctr">
              <a:defRPr sz="3600" b="1">
                <a:solidFill>
                  <a:srgbClr val="E4512F"/>
                </a:solidFill>
              </a:defRPr>
            </a:pPr>
            <a:r>
              <a:rPr sz="3600" b="1">
                <a:solidFill>
                  <a:srgbClr val="E4512F"/>
                </a:solidFill>
              </a:rPr>
              <a:t>≠</a:t>
            </a:r>
          </a:p>
          <a:p>
            <a:pPr algn="ctr">
              <a:defRPr sz="3600" b="1">
                <a:solidFill>
                  <a:srgbClr val="E4512F"/>
                </a:solidFill>
              </a:defRPr>
            </a:pPr>
            <a:r>
              <a:rPr sz="3600" b="1">
                <a:solidFill>
                  <a:srgbClr val="E4512F"/>
                </a:solidFill>
              </a:rPr>
              <a:t>MATCHED</a:t>
            </a:r>
          </a:p>
        </p:txBody>
      </p:sp>
      <p:sp>
        <p:nvSpPr>
          <p:cNvPr id="18" name="footer-rule">
            <a:extLst>
              <a:ext uri="{FF2B5EF4-FFF2-40B4-BE49-F238E27FC236}">
                <a16:creationId xmlns:a16="http://schemas.microsoft.com/office/drawing/2014/main" id="{D6125440-7172-4D40-8B6E-6C94C74548E5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10820400" cy="9525"/>
          </a:xfrm>
          <a:prstGeom prst="rect">
            <a:avLst/>
          </a:prstGeom>
          <a:solidFill>
            <a:srgbClr val="D7DEE3"/>
          </a:solidFill>
          <a:ln w="0">
            <a:noFill/>
            <a:prstDash val="solid"/>
          </a:ln>
        </p:spPr>
      </p:sp>
      <p:sp>
        <p:nvSpPr>
          <p:cNvPr id="19" name="footer">
            <a:extLst>
              <a:ext uri="{FF2B5EF4-FFF2-40B4-BE49-F238E27FC236}">
                <a16:creationId xmlns:a16="http://schemas.microsoft.com/office/drawing/2014/main" id="{83E83DC6-306E-4885-9392-B262B2FDDB0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3616D"/>
                </a:solidFill>
              </a:defRPr>
            </a:pPr>
            <a:r>
              <a:rPr sz="825" b="1">
                <a:solidFill>
                  <a:srgbClr val="53616D"/>
                </a:solidFill>
              </a:rPr>
              <a:t>CREDX  /  SMART JOB MATCHING DASHBOARD</a:t>
            </a:r>
          </a:p>
        </p:txBody>
      </p:sp>
    </p:spTree>
    <p:extLst>
      <p:ext uri="{BB962C8B-B14F-4D97-AF65-F5344CB8AC3E}">
        <p14:creationId xmlns:p14="http://schemas.microsoft.com/office/powerpoint/2010/main" val="69877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kicker-3">
            <a:extLst>
              <a:ext uri="{FF2B5EF4-FFF2-40B4-BE49-F238E27FC236}">
                <a16:creationId xmlns:a16="http://schemas.microsoft.com/office/drawing/2014/main" id="{3CF36D76-BE3C-437C-93DC-17A6A05F648B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E4512F"/>
                </a:solidFill>
              </a:defRPr>
            </a:pPr>
            <a:r>
              <a:rPr sz="1050" b="1">
                <a:solidFill>
                  <a:srgbClr val="E4512F"/>
                </a:solidFill>
              </a:rPr>
              <a:t>THE SOLUTION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C2948C75-3CF4-4F91-8EE6-CEAE8AD7A4E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72026"/>
                </a:solidFill>
              </a:defRPr>
            </a:pPr>
            <a:r>
              <a:rPr sz="2850" b="1">
                <a:solidFill>
                  <a:srgbClr val="172026"/>
                </a:solidFill>
              </a:rPr>
              <a:t>CredX turns profile signals into ranked opportunities</a:t>
            </a:r>
          </a:p>
        </p:txBody>
      </p:sp>
      <p:sp>
        <p:nvSpPr>
          <p:cNvPr id="3" name="page-3">
            <a:extLst>
              <a:ext uri="{FF2B5EF4-FFF2-40B4-BE49-F238E27FC236}">
                <a16:creationId xmlns:a16="http://schemas.microsoft.com/office/drawing/2014/main" id="{83D51255-D70B-41F7-A923-4972299123E3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3616D"/>
                </a:solidFill>
              </a:defRPr>
            </a:pPr>
            <a:r>
              <a:rPr sz="975" b="1">
                <a:solidFill>
                  <a:srgbClr val="53616D"/>
                </a:solidFill>
              </a:rPr>
              <a:t>03</a:t>
            </a:r>
          </a:p>
        </p:txBody>
      </p:sp>
      <p:sp>
        <p:nvSpPr>
          <p:cNvPr id="4" name="arrow-1">
            <a:extLst>
              <a:ext uri="{FF2B5EF4-FFF2-40B4-BE49-F238E27FC236}">
                <a16:creationId xmlns:a16="http://schemas.microsoft.com/office/drawing/2014/main" id="{567C7AA0-ECCD-4339-A3C3-0DE54B8E6B99}"/>
              </a:ext>
            </a:extLst>
          </p:cNvPr>
          <p:cNvSpPr>
            <a:spLocks noGrp="1"/>
          </p:cNvSpPr>
          <p:nvPr/>
        </p:nvSpPr>
        <p:spPr>
          <a:xfrm>
            <a:off x="3086100" y="3105150"/>
            <a:ext cx="552450" cy="190500"/>
          </a:xfrm>
          <a:prstGeom prst="rightArrow">
            <a:avLst/>
          </a:prstGeom>
          <a:solidFill>
            <a:srgbClr val="53616D"/>
          </a:solidFill>
          <a:ln w="0">
            <a:solidFill>
              <a:srgbClr val="53616D"/>
            </a:solidFill>
            <a:prstDash val="solid"/>
          </a:ln>
        </p:spPr>
      </p:sp>
      <p:sp>
        <p:nvSpPr>
          <p:cNvPr id="5" name="arrow-2">
            <a:extLst>
              <a:ext uri="{FF2B5EF4-FFF2-40B4-BE49-F238E27FC236}">
                <a16:creationId xmlns:a16="http://schemas.microsoft.com/office/drawing/2014/main" id="{9EC254FE-6B86-41EE-B89B-203E4002EB8B}"/>
              </a:ext>
            </a:extLst>
          </p:cNvPr>
          <p:cNvSpPr>
            <a:spLocks noGrp="1"/>
          </p:cNvSpPr>
          <p:nvPr/>
        </p:nvSpPr>
        <p:spPr>
          <a:xfrm>
            <a:off x="5848350" y="3105150"/>
            <a:ext cx="552450" cy="190500"/>
          </a:xfrm>
          <a:prstGeom prst="rightArrow">
            <a:avLst/>
          </a:prstGeom>
          <a:solidFill>
            <a:srgbClr val="53616D"/>
          </a:solidFill>
          <a:ln w="0">
            <a:solidFill>
              <a:srgbClr val="53616D"/>
            </a:solidFill>
            <a:prstDash val="solid"/>
          </a:ln>
        </p:spPr>
      </p:sp>
      <p:sp>
        <p:nvSpPr>
          <p:cNvPr id="6" name="arrow-3">
            <a:extLst>
              <a:ext uri="{FF2B5EF4-FFF2-40B4-BE49-F238E27FC236}">
                <a16:creationId xmlns:a16="http://schemas.microsoft.com/office/drawing/2014/main" id="{348E564D-8657-4B59-952A-F14DC1FCDF42}"/>
              </a:ext>
            </a:extLst>
          </p:cNvPr>
          <p:cNvSpPr>
            <a:spLocks noGrp="1"/>
          </p:cNvSpPr>
          <p:nvPr/>
        </p:nvSpPr>
        <p:spPr>
          <a:xfrm>
            <a:off x="8610600" y="3105150"/>
            <a:ext cx="552450" cy="190500"/>
          </a:xfrm>
          <a:prstGeom prst="rightArrow">
            <a:avLst/>
          </a:prstGeom>
          <a:solidFill>
            <a:srgbClr val="53616D"/>
          </a:solidFill>
          <a:ln w="0">
            <a:solidFill>
              <a:srgbClr val="53616D"/>
            </a:solidFill>
            <a:prstDash val="solid"/>
          </a:ln>
        </p:spPr>
      </p:sp>
      <p:sp>
        <p:nvSpPr>
          <p:cNvPr id="7" name="flow-0">
            <a:extLst>
              <a:ext uri="{FF2B5EF4-FFF2-40B4-BE49-F238E27FC236}">
                <a16:creationId xmlns:a16="http://schemas.microsoft.com/office/drawing/2014/main" id="{C00AF6FE-B024-4063-9A36-E0D32DC42B04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2381250" cy="25717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7DEE3"/>
            </a:solidFill>
            <a:prstDash val="solid"/>
          </a:ln>
        </p:spPr>
      </p:sp>
      <p:sp>
        <p:nvSpPr>
          <p:cNvPr id="8" name="pill-01">
            <a:extLst>
              <a:ext uri="{FF2B5EF4-FFF2-40B4-BE49-F238E27FC236}">
                <a16:creationId xmlns:a16="http://schemas.microsoft.com/office/drawing/2014/main" id="{6AFB8A8B-1CF0-4BBE-8B54-12B84BA953F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514350" cy="36195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9525">
            <a:solidFill>
              <a:srgbClr val="EAF5FF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3DADFF"/>
                </a:solidFill>
              </a:defRPr>
            </a:pPr>
            <a:r>
              <a:rPr sz="1200" b="1">
                <a:solidFill>
                  <a:srgbClr val="3DADFF"/>
                </a:solidFill>
              </a:rPr>
              <a:t>01</a:t>
            </a:r>
          </a:p>
        </p:txBody>
      </p:sp>
      <p:sp>
        <p:nvSpPr>
          <p:cNvPr id="9" name="flow-h-0">
            <a:extLst>
              <a:ext uri="{FF2B5EF4-FFF2-40B4-BE49-F238E27FC236}">
                <a16:creationId xmlns:a16="http://schemas.microsoft.com/office/drawing/2014/main" id="{F30ACDCB-4033-4BAB-99C5-FFEA9ECCB5CE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190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026"/>
                </a:solidFill>
              </a:defRPr>
            </a:pPr>
            <a:r>
              <a:rPr sz="1725" b="1">
                <a:solidFill>
                  <a:srgbClr val="172026"/>
                </a:solidFill>
              </a:rPr>
              <a:t>Build a profile</a:t>
            </a:r>
          </a:p>
        </p:txBody>
      </p:sp>
      <p:sp>
        <p:nvSpPr>
          <p:cNvPr id="10" name="flow-b-0">
            <a:extLst>
              <a:ext uri="{FF2B5EF4-FFF2-40B4-BE49-F238E27FC236}">
                <a16:creationId xmlns:a16="http://schemas.microsoft.com/office/drawing/2014/main" id="{579D0EE9-D7E8-4B3A-AB14-23157ACD8295}"/>
              </a:ext>
            </a:extLst>
          </p:cNvPr>
          <p:cNvSpPr>
            <a:spLocks noGrp="1"/>
          </p:cNvSpPr>
          <p:nvPr/>
        </p:nvSpPr>
        <p:spPr>
          <a:xfrm>
            <a:off x="914400" y="3676650"/>
            <a:ext cx="1905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Skills, GPA, location and work authorization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ED8D47-6992-4D4A-A055-ADEF422E1AE6}"/>
              </a:ext>
            </a:extLst>
          </p:cNvPr>
          <p:cNvSpPr>
            <a:spLocks noGrp="1"/>
          </p:cNvSpPr>
          <p:nvPr/>
        </p:nvSpPr>
        <p:spPr>
          <a:xfrm>
            <a:off x="914400" y="4495800"/>
            <a:ext cx="590550" cy="47625"/>
          </a:xfrm>
          <a:prstGeom prst="rect">
            <a:avLst/>
          </a:prstGeom>
          <a:solidFill>
            <a:srgbClr val="3DADFF"/>
          </a:solidFill>
          <a:ln w="0">
            <a:solidFill>
              <a:srgbClr val="3DADFF"/>
            </a:solidFill>
            <a:prstDash val="solid"/>
          </a:ln>
        </p:spPr>
      </p:sp>
      <p:sp>
        <p:nvSpPr>
          <p:cNvPr id="12" name="flow-1">
            <a:extLst>
              <a:ext uri="{FF2B5EF4-FFF2-40B4-BE49-F238E27FC236}">
                <a16:creationId xmlns:a16="http://schemas.microsoft.com/office/drawing/2014/main" id="{C4B309FF-7ADD-4A48-8B14-627C932F360E}"/>
              </a:ext>
            </a:extLst>
          </p:cNvPr>
          <p:cNvSpPr>
            <a:spLocks noGrp="1"/>
          </p:cNvSpPr>
          <p:nvPr/>
        </p:nvSpPr>
        <p:spPr>
          <a:xfrm>
            <a:off x="3448050" y="2133600"/>
            <a:ext cx="2381250" cy="25717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7DEE3"/>
            </a:solidFill>
            <a:prstDash val="solid"/>
          </a:ln>
        </p:spPr>
      </p:sp>
      <p:sp>
        <p:nvSpPr>
          <p:cNvPr id="13" name="pill-02">
            <a:extLst>
              <a:ext uri="{FF2B5EF4-FFF2-40B4-BE49-F238E27FC236}">
                <a16:creationId xmlns:a16="http://schemas.microsoft.com/office/drawing/2014/main" id="{23219BBC-7CF7-4B11-BE75-1EDFE96241B8}"/>
              </a:ext>
            </a:extLst>
          </p:cNvPr>
          <p:cNvSpPr>
            <a:spLocks noGrp="1"/>
          </p:cNvSpPr>
          <p:nvPr/>
        </p:nvSpPr>
        <p:spPr>
          <a:xfrm>
            <a:off x="3676650" y="2343150"/>
            <a:ext cx="514350" cy="361950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 w="9525">
            <a:solidFill>
              <a:srgbClr val="F1ECFF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874FFF"/>
                </a:solidFill>
              </a:defRPr>
            </a:pPr>
            <a:r>
              <a:rPr sz="1200" b="1">
                <a:solidFill>
                  <a:srgbClr val="874FFF"/>
                </a:solidFill>
              </a:rPr>
              <a:t>02</a:t>
            </a:r>
          </a:p>
        </p:txBody>
      </p:sp>
      <p:sp>
        <p:nvSpPr>
          <p:cNvPr id="14" name="flow-h-1">
            <a:extLst>
              <a:ext uri="{FF2B5EF4-FFF2-40B4-BE49-F238E27FC236}">
                <a16:creationId xmlns:a16="http://schemas.microsoft.com/office/drawing/2014/main" id="{863DA6CD-CD13-47C7-8EC8-D8F303E79D2D}"/>
              </a:ext>
            </a:extLst>
          </p:cNvPr>
          <p:cNvSpPr>
            <a:spLocks noGrp="1"/>
          </p:cNvSpPr>
          <p:nvPr/>
        </p:nvSpPr>
        <p:spPr>
          <a:xfrm>
            <a:off x="3676650" y="2952750"/>
            <a:ext cx="190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026"/>
                </a:solidFill>
              </a:defRPr>
            </a:pPr>
            <a:r>
              <a:rPr sz="1725" b="1">
                <a:solidFill>
                  <a:srgbClr val="172026"/>
                </a:solidFill>
              </a:rPr>
              <a:t>Analyze the resume</a:t>
            </a:r>
          </a:p>
        </p:txBody>
      </p:sp>
      <p:sp>
        <p:nvSpPr>
          <p:cNvPr id="15" name="flow-b-1">
            <a:extLst>
              <a:ext uri="{FF2B5EF4-FFF2-40B4-BE49-F238E27FC236}">
                <a16:creationId xmlns:a16="http://schemas.microsoft.com/office/drawing/2014/main" id="{18A37AD7-C728-42FB-BDC9-9589C0BAD9E3}"/>
              </a:ext>
            </a:extLst>
          </p:cNvPr>
          <p:cNvSpPr>
            <a:spLocks noGrp="1"/>
          </p:cNvSpPr>
          <p:nvPr/>
        </p:nvSpPr>
        <p:spPr>
          <a:xfrm>
            <a:off x="3676650" y="3676650"/>
            <a:ext cx="1905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Extract text and suggest verifiable skills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0797E4-DF95-4CDE-AD65-ABB92F7E3EA9}"/>
              </a:ext>
            </a:extLst>
          </p:cNvPr>
          <p:cNvSpPr>
            <a:spLocks noGrp="1"/>
          </p:cNvSpPr>
          <p:nvPr/>
        </p:nvSpPr>
        <p:spPr>
          <a:xfrm>
            <a:off x="3676650" y="4495800"/>
            <a:ext cx="590550" cy="47625"/>
          </a:xfrm>
          <a:prstGeom prst="rect">
            <a:avLst/>
          </a:prstGeom>
          <a:solidFill>
            <a:srgbClr val="874FFF"/>
          </a:solidFill>
          <a:ln w="0">
            <a:solidFill>
              <a:srgbClr val="874FFF"/>
            </a:solidFill>
            <a:prstDash val="solid"/>
          </a:ln>
        </p:spPr>
      </p:sp>
      <p:sp>
        <p:nvSpPr>
          <p:cNvPr id="17" name="flow-2">
            <a:extLst>
              <a:ext uri="{FF2B5EF4-FFF2-40B4-BE49-F238E27FC236}">
                <a16:creationId xmlns:a16="http://schemas.microsoft.com/office/drawing/2014/main" id="{3F3BA1A1-0A61-419B-A83A-6CAD1847B48D}"/>
              </a:ext>
            </a:extLst>
          </p:cNvPr>
          <p:cNvSpPr>
            <a:spLocks noGrp="1"/>
          </p:cNvSpPr>
          <p:nvPr/>
        </p:nvSpPr>
        <p:spPr>
          <a:xfrm>
            <a:off x="6210300" y="2133600"/>
            <a:ext cx="2381250" cy="25717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7DEE3"/>
            </a:solidFill>
            <a:prstDash val="solid"/>
          </a:ln>
        </p:spPr>
      </p:sp>
      <p:sp>
        <p:nvSpPr>
          <p:cNvPr id="18" name="pill-03">
            <a:extLst>
              <a:ext uri="{FF2B5EF4-FFF2-40B4-BE49-F238E27FC236}">
                <a16:creationId xmlns:a16="http://schemas.microsoft.com/office/drawing/2014/main" id="{FB565A2F-88BF-48A6-91DD-07DBF94345C3}"/>
              </a:ext>
            </a:extLst>
          </p:cNvPr>
          <p:cNvSpPr>
            <a:spLocks noGrp="1"/>
          </p:cNvSpPr>
          <p:nvPr/>
        </p:nvSpPr>
        <p:spPr>
          <a:xfrm>
            <a:off x="6438900" y="2343150"/>
            <a:ext cx="514350" cy="361950"/>
          </a:xfrm>
          <a:prstGeom prst="roundRect">
            <a:avLst>
              <a:gd name="adj" fmla="val 50000"/>
            </a:avLst>
          </a:prstGeom>
          <a:solidFill>
            <a:srgbClr val="FFF8DB"/>
          </a:solidFill>
          <a:ln w="9525">
            <a:solidFill>
              <a:srgbClr val="FFF8DB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E8A302"/>
                </a:solidFill>
              </a:defRPr>
            </a:pPr>
            <a:r>
              <a:rPr sz="1200" b="1">
                <a:solidFill>
                  <a:srgbClr val="E8A302"/>
                </a:solidFill>
              </a:rPr>
              <a:t>03</a:t>
            </a:r>
          </a:p>
        </p:txBody>
      </p:sp>
      <p:sp>
        <p:nvSpPr>
          <p:cNvPr id="19" name="flow-h-2">
            <a:extLst>
              <a:ext uri="{FF2B5EF4-FFF2-40B4-BE49-F238E27FC236}">
                <a16:creationId xmlns:a16="http://schemas.microsoft.com/office/drawing/2014/main" id="{3353F7FC-C50C-4EB4-B020-06FB2A2C41A1}"/>
              </a:ext>
            </a:extLst>
          </p:cNvPr>
          <p:cNvSpPr>
            <a:spLocks noGrp="1"/>
          </p:cNvSpPr>
          <p:nvPr/>
        </p:nvSpPr>
        <p:spPr>
          <a:xfrm>
            <a:off x="6438900" y="2952750"/>
            <a:ext cx="190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026"/>
                </a:solidFill>
              </a:defRPr>
            </a:pPr>
            <a:r>
              <a:rPr sz="1725" b="1">
                <a:solidFill>
                  <a:srgbClr val="172026"/>
                </a:solidFill>
              </a:rPr>
              <a:t>Calculate every match</a:t>
            </a:r>
          </a:p>
        </p:txBody>
      </p:sp>
      <p:sp>
        <p:nvSpPr>
          <p:cNvPr id="20" name="flow-b-2">
            <a:extLst>
              <a:ext uri="{FF2B5EF4-FFF2-40B4-BE49-F238E27FC236}">
                <a16:creationId xmlns:a16="http://schemas.microsoft.com/office/drawing/2014/main" id="{9ED411F8-9C71-47EB-9133-DD52D105D38A}"/>
              </a:ext>
            </a:extLst>
          </p:cNvPr>
          <p:cNvSpPr>
            <a:spLocks noGrp="1"/>
          </p:cNvSpPr>
          <p:nvPr/>
        </p:nvSpPr>
        <p:spPr>
          <a:xfrm>
            <a:off x="6438900" y="3676650"/>
            <a:ext cx="1905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Weighted, deterministic and explainable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16C1F2-DEC0-490C-84EB-7A216703BCAD}"/>
              </a:ext>
            </a:extLst>
          </p:cNvPr>
          <p:cNvSpPr>
            <a:spLocks noGrp="1"/>
          </p:cNvSpPr>
          <p:nvPr/>
        </p:nvSpPr>
        <p:spPr>
          <a:xfrm>
            <a:off x="6438900" y="4495800"/>
            <a:ext cx="590550" cy="47625"/>
          </a:xfrm>
          <a:prstGeom prst="rect">
            <a:avLst/>
          </a:prstGeom>
          <a:solidFill>
            <a:srgbClr val="E8A302"/>
          </a:solidFill>
          <a:ln w="0">
            <a:solidFill>
              <a:srgbClr val="E8A302"/>
            </a:solidFill>
            <a:prstDash val="solid"/>
          </a:ln>
        </p:spPr>
      </p:sp>
      <p:sp>
        <p:nvSpPr>
          <p:cNvPr id="22" name="flow-3">
            <a:extLst>
              <a:ext uri="{FF2B5EF4-FFF2-40B4-BE49-F238E27FC236}">
                <a16:creationId xmlns:a16="http://schemas.microsoft.com/office/drawing/2014/main" id="{C15E1243-EEDC-4CB4-A616-BB490E146743}"/>
              </a:ext>
            </a:extLst>
          </p:cNvPr>
          <p:cNvSpPr>
            <a:spLocks noGrp="1"/>
          </p:cNvSpPr>
          <p:nvPr/>
        </p:nvSpPr>
        <p:spPr>
          <a:xfrm>
            <a:off x="8972550" y="2133600"/>
            <a:ext cx="2381250" cy="25717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7DEE3"/>
            </a:solidFill>
            <a:prstDash val="solid"/>
          </a:ln>
        </p:spPr>
      </p:sp>
      <p:sp>
        <p:nvSpPr>
          <p:cNvPr id="23" name="pill-04">
            <a:extLst>
              <a:ext uri="{FF2B5EF4-FFF2-40B4-BE49-F238E27FC236}">
                <a16:creationId xmlns:a16="http://schemas.microsoft.com/office/drawing/2014/main" id="{A7259104-97CB-49AF-A1F9-321A4B604058}"/>
              </a:ext>
            </a:extLst>
          </p:cNvPr>
          <p:cNvSpPr>
            <a:spLocks noGrp="1"/>
          </p:cNvSpPr>
          <p:nvPr/>
        </p:nvSpPr>
        <p:spPr>
          <a:xfrm>
            <a:off x="9201150" y="2343150"/>
            <a:ext cx="514350" cy="361950"/>
          </a:xfrm>
          <a:prstGeom prst="roundRect">
            <a:avLst>
              <a:gd name="adj" fmla="val 50000"/>
            </a:avLst>
          </a:prstGeom>
          <a:solidFill>
            <a:srgbClr val="EAF8EE"/>
          </a:solidFill>
          <a:ln w="9525">
            <a:solidFill>
              <a:srgbClr val="EAF8EE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E9D57"/>
                </a:solidFill>
              </a:defRPr>
            </a:pPr>
            <a:r>
              <a:rPr sz="1200" b="1">
                <a:solidFill>
                  <a:srgbClr val="2E9D57"/>
                </a:solidFill>
              </a:rPr>
              <a:t>04</a:t>
            </a:r>
          </a:p>
        </p:txBody>
      </p:sp>
      <p:sp>
        <p:nvSpPr>
          <p:cNvPr id="24" name="flow-h-3">
            <a:extLst>
              <a:ext uri="{FF2B5EF4-FFF2-40B4-BE49-F238E27FC236}">
                <a16:creationId xmlns:a16="http://schemas.microsoft.com/office/drawing/2014/main" id="{1067803B-D4BA-4FF4-933D-9F0EFFDA96DB}"/>
              </a:ext>
            </a:extLst>
          </p:cNvPr>
          <p:cNvSpPr>
            <a:spLocks noGrp="1"/>
          </p:cNvSpPr>
          <p:nvPr/>
        </p:nvSpPr>
        <p:spPr>
          <a:xfrm>
            <a:off x="9201150" y="2952750"/>
            <a:ext cx="190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026"/>
                </a:solidFill>
              </a:defRPr>
            </a:pPr>
            <a:r>
              <a:rPr sz="1725" b="1">
                <a:solidFill>
                  <a:srgbClr val="172026"/>
                </a:solidFill>
              </a:rPr>
              <a:t>Act with confidence</a:t>
            </a:r>
          </a:p>
        </p:txBody>
      </p:sp>
      <p:sp>
        <p:nvSpPr>
          <p:cNvPr id="25" name="flow-b-3">
            <a:extLst>
              <a:ext uri="{FF2B5EF4-FFF2-40B4-BE49-F238E27FC236}">
                <a16:creationId xmlns:a16="http://schemas.microsoft.com/office/drawing/2014/main" id="{BAAA1C75-0AF1-4222-9E93-291FBAB7B053}"/>
              </a:ext>
            </a:extLst>
          </p:cNvPr>
          <p:cNvSpPr>
            <a:spLocks noGrp="1"/>
          </p:cNvSpPr>
          <p:nvPr/>
        </p:nvSpPr>
        <p:spPr>
          <a:xfrm>
            <a:off x="9201150" y="3676650"/>
            <a:ext cx="1905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Rank, filter, apply and track status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B85859-55E0-493A-8744-DDDA916D1933}"/>
              </a:ext>
            </a:extLst>
          </p:cNvPr>
          <p:cNvSpPr>
            <a:spLocks noGrp="1"/>
          </p:cNvSpPr>
          <p:nvPr/>
        </p:nvSpPr>
        <p:spPr>
          <a:xfrm>
            <a:off x="9201150" y="4495800"/>
            <a:ext cx="590550" cy="47625"/>
          </a:xfrm>
          <a:prstGeom prst="rect">
            <a:avLst/>
          </a:prstGeom>
          <a:solidFill>
            <a:srgbClr val="2E9D57"/>
          </a:solidFill>
          <a:ln w="0">
            <a:solidFill>
              <a:srgbClr val="2E9D57"/>
            </a:solidFill>
            <a:prstDash val="solid"/>
          </a:ln>
        </p:spPr>
      </p:sp>
      <p:sp>
        <p:nvSpPr>
          <p:cNvPr id="27" name="solution-bottom">
            <a:extLst>
              <a:ext uri="{FF2B5EF4-FFF2-40B4-BE49-F238E27FC236}">
                <a16:creationId xmlns:a16="http://schemas.microsoft.com/office/drawing/2014/main" id="{29F6C864-8DCE-4284-9A4B-14652C374BB5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172026"/>
                </a:solidFill>
              </a:defRPr>
            </a:pPr>
            <a:r>
              <a:rPr sz="1950" b="1">
                <a:solidFill>
                  <a:srgbClr val="172026"/>
                </a:solidFill>
              </a:rPr>
              <a:t>No administrator or manual processing step is required.</a:t>
            </a:r>
          </a:p>
        </p:txBody>
      </p:sp>
      <p:sp>
        <p:nvSpPr>
          <p:cNvPr id="28" name="footer-rule">
            <a:extLst>
              <a:ext uri="{FF2B5EF4-FFF2-40B4-BE49-F238E27FC236}">
                <a16:creationId xmlns:a16="http://schemas.microsoft.com/office/drawing/2014/main" id="{1A08C2DF-85B9-4799-A548-692A1D79E037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10820400" cy="9525"/>
          </a:xfrm>
          <a:prstGeom prst="rect">
            <a:avLst/>
          </a:prstGeom>
          <a:solidFill>
            <a:srgbClr val="D7DEE3"/>
          </a:solidFill>
          <a:ln w="0">
            <a:noFill/>
            <a:prstDash val="solid"/>
          </a:ln>
        </p:spPr>
      </p:sp>
      <p:sp>
        <p:nvSpPr>
          <p:cNvPr id="29" name="footer">
            <a:extLst>
              <a:ext uri="{FF2B5EF4-FFF2-40B4-BE49-F238E27FC236}">
                <a16:creationId xmlns:a16="http://schemas.microsoft.com/office/drawing/2014/main" id="{083D8D4F-D2B6-40B2-ADB9-E492EFB5863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3616D"/>
                </a:solidFill>
              </a:defRPr>
            </a:pPr>
            <a:r>
              <a:rPr sz="825" b="1">
                <a:solidFill>
                  <a:srgbClr val="53616D"/>
                </a:solidFill>
              </a:rPr>
              <a:t>CREDX  /  SMART JOB MATCHING DASHBOARD</a:t>
            </a:r>
          </a:p>
        </p:txBody>
      </p:sp>
    </p:spTree>
    <p:extLst>
      <p:ext uri="{BB962C8B-B14F-4D97-AF65-F5344CB8AC3E}">
        <p14:creationId xmlns:p14="http://schemas.microsoft.com/office/powerpoint/2010/main" val="1912638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kicker-4">
            <a:extLst>
              <a:ext uri="{FF2B5EF4-FFF2-40B4-BE49-F238E27FC236}">
                <a16:creationId xmlns:a16="http://schemas.microsoft.com/office/drawing/2014/main" id="{ABDBDB5B-3B00-4DDC-AFAD-D506CAD2EF9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E4512F"/>
                </a:solidFill>
              </a:defRPr>
            </a:pPr>
            <a:r>
              <a:rPr sz="1050" b="1">
                <a:solidFill>
                  <a:srgbClr val="E4512F"/>
                </a:solidFill>
              </a:rPr>
              <a:t>STUDENT EXPERIENCE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8B6F4942-1E08-46E5-A32B-EA2837FF2094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72026"/>
                </a:solidFill>
              </a:defRPr>
            </a:pPr>
            <a:r>
              <a:rPr sz="2850" b="1">
                <a:solidFill>
                  <a:srgbClr val="172026"/>
                </a:solidFill>
              </a:rPr>
              <a:t>Structured profile data makes matching meaningful</a:t>
            </a:r>
          </a:p>
        </p:txBody>
      </p:sp>
      <p:sp>
        <p:nvSpPr>
          <p:cNvPr id="3" name="page-4">
            <a:extLst>
              <a:ext uri="{FF2B5EF4-FFF2-40B4-BE49-F238E27FC236}">
                <a16:creationId xmlns:a16="http://schemas.microsoft.com/office/drawing/2014/main" id="{248B48C2-F11F-4F17-A76B-C540396C857E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3616D"/>
                </a:solidFill>
              </a:defRPr>
            </a:pPr>
            <a:r>
              <a:rPr sz="975" b="1">
                <a:solidFill>
                  <a:srgbClr val="53616D"/>
                </a:solidFill>
              </a:rPr>
              <a:t>04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rcRect l="22563" r="22563"/>
          <a:stretch>
            <a:fillRect/>
          </a:stretch>
        </p:blipFill>
        <p:spPr>
          <a:xfrm>
            <a:off x="7239000" y="1562100"/>
            <a:ext cx="4267200" cy="4267200"/>
          </a:xfrm>
          <a:prstGeom prst="roundRect">
            <a:avLst>
              <a:gd name="adj" fmla="val 2679"/>
            </a:avLst>
          </a:prstGeom>
        </p:spPr>
      </p:pic>
      <p:sp>
        <p:nvSpPr>
          <p:cNvPr id="5" name="profile-intro">
            <a:extLst>
              <a:ext uri="{FF2B5EF4-FFF2-40B4-BE49-F238E27FC236}">
                <a16:creationId xmlns:a16="http://schemas.microsoft.com/office/drawing/2014/main" id="{29A50174-0399-4801-8D38-A1DB7BE8DCD2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571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72026"/>
                </a:solidFill>
              </a:defRPr>
            </a:pPr>
            <a:r>
              <a:rPr sz="1875" b="1">
                <a:solidFill>
                  <a:srgbClr val="172026"/>
                </a:solidFill>
              </a:rPr>
              <a:t>Four signals power the recommendation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912088B-761E-45B2-A07E-DF0A017B50DB}"/>
              </a:ext>
            </a:extLst>
          </p:cNvPr>
          <p:cNvSpPr>
            <a:spLocks noGrp="1"/>
          </p:cNvSpPr>
          <p:nvPr/>
        </p:nvSpPr>
        <p:spPr>
          <a:xfrm>
            <a:off x="723900" y="2362200"/>
            <a:ext cx="133350" cy="133350"/>
          </a:xfrm>
          <a:prstGeom prst="ellipse">
            <a:avLst/>
          </a:prstGeom>
          <a:solidFill>
            <a:srgbClr val="3DADFF"/>
          </a:solidFill>
          <a:ln w="0">
            <a:solidFill>
              <a:srgbClr val="3DADFF"/>
            </a:solidFill>
            <a:prstDash val="solid"/>
          </a:ln>
        </p:spPr>
      </p:sp>
      <p:sp>
        <p:nvSpPr>
          <p:cNvPr id="7" name="sig-h-0">
            <a:extLst>
              <a:ext uri="{FF2B5EF4-FFF2-40B4-BE49-F238E27FC236}">
                <a16:creationId xmlns:a16="http://schemas.microsoft.com/office/drawing/2014/main" id="{C2989B3C-D344-4E2E-8EF8-C770B1B6D110}"/>
              </a:ext>
            </a:extLst>
          </p:cNvPr>
          <p:cNvSpPr>
            <a:spLocks noGrp="1"/>
          </p:cNvSpPr>
          <p:nvPr/>
        </p:nvSpPr>
        <p:spPr>
          <a:xfrm>
            <a:off x="990600" y="22479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2026"/>
                </a:solidFill>
              </a:defRPr>
            </a:pPr>
            <a:r>
              <a:rPr sz="1500" b="1">
                <a:solidFill>
                  <a:srgbClr val="172026"/>
                </a:solidFill>
              </a:rPr>
              <a:t>Skills</a:t>
            </a:r>
          </a:p>
        </p:txBody>
      </p:sp>
      <p:sp>
        <p:nvSpPr>
          <p:cNvPr id="8" name="sig-b-0">
            <a:extLst>
              <a:ext uri="{FF2B5EF4-FFF2-40B4-BE49-F238E27FC236}">
                <a16:creationId xmlns:a16="http://schemas.microsoft.com/office/drawing/2014/main" id="{9E67B13F-DA74-4AA0-93C5-14649C575E28}"/>
              </a:ext>
            </a:extLst>
          </p:cNvPr>
          <p:cNvSpPr>
            <a:spLocks noGrp="1"/>
          </p:cNvSpPr>
          <p:nvPr/>
        </p:nvSpPr>
        <p:spPr>
          <a:xfrm>
            <a:off x="3143250" y="22479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Tagged, multi-select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6916D5B-3EE7-476B-AA35-AD53CDAAFB77}"/>
              </a:ext>
            </a:extLst>
          </p:cNvPr>
          <p:cNvSpPr>
            <a:spLocks noGrp="1"/>
          </p:cNvSpPr>
          <p:nvPr/>
        </p:nvSpPr>
        <p:spPr>
          <a:xfrm>
            <a:off x="723900" y="3067050"/>
            <a:ext cx="133350" cy="133350"/>
          </a:xfrm>
          <a:prstGeom prst="ellipse">
            <a:avLst/>
          </a:prstGeom>
          <a:solidFill>
            <a:srgbClr val="874FFF"/>
          </a:solidFill>
          <a:ln w="0">
            <a:solidFill>
              <a:srgbClr val="874FFF"/>
            </a:solidFill>
            <a:prstDash val="solid"/>
          </a:ln>
        </p:spPr>
      </p:sp>
      <p:sp>
        <p:nvSpPr>
          <p:cNvPr id="10" name="sig-h-1">
            <a:extLst>
              <a:ext uri="{FF2B5EF4-FFF2-40B4-BE49-F238E27FC236}">
                <a16:creationId xmlns:a16="http://schemas.microsoft.com/office/drawing/2014/main" id="{F000F824-FBAF-4A97-9173-5481DE9AC293}"/>
              </a:ext>
            </a:extLst>
          </p:cNvPr>
          <p:cNvSpPr>
            <a:spLocks noGrp="1"/>
          </p:cNvSpPr>
          <p:nvPr/>
        </p:nvSpPr>
        <p:spPr>
          <a:xfrm>
            <a:off x="990600" y="29527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2026"/>
                </a:solidFill>
              </a:defRPr>
            </a:pPr>
            <a:r>
              <a:rPr sz="1500" b="1">
                <a:solidFill>
                  <a:srgbClr val="172026"/>
                </a:solidFill>
              </a:rPr>
              <a:t>GPA</a:t>
            </a:r>
          </a:p>
        </p:txBody>
      </p:sp>
      <p:sp>
        <p:nvSpPr>
          <p:cNvPr id="11" name="sig-b-1">
            <a:extLst>
              <a:ext uri="{FF2B5EF4-FFF2-40B4-BE49-F238E27FC236}">
                <a16:creationId xmlns:a16="http://schemas.microsoft.com/office/drawing/2014/main" id="{4D058ED8-1BA8-4D3C-9B6B-A09F78D43BFD}"/>
              </a:ext>
            </a:extLst>
          </p:cNvPr>
          <p:cNvSpPr>
            <a:spLocks noGrp="1"/>
          </p:cNvSpPr>
          <p:nvPr/>
        </p:nvSpPr>
        <p:spPr>
          <a:xfrm>
            <a:off x="3143250" y="29527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Threshold-aware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5D4C436-B6BC-470E-B6E5-B236BF1DBC69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133350" cy="133350"/>
          </a:xfrm>
          <a:prstGeom prst="ellipse">
            <a:avLst/>
          </a:prstGeom>
          <a:solidFill>
            <a:srgbClr val="2E9D57"/>
          </a:solidFill>
          <a:ln w="0">
            <a:solidFill>
              <a:srgbClr val="2E9D57"/>
            </a:solidFill>
            <a:prstDash val="solid"/>
          </a:ln>
        </p:spPr>
      </p:sp>
      <p:sp>
        <p:nvSpPr>
          <p:cNvPr id="13" name="sig-h-2">
            <a:extLst>
              <a:ext uri="{FF2B5EF4-FFF2-40B4-BE49-F238E27FC236}">
                <a16:creationId xmlns:a16="http://schemas.microsoft.com/office/drawing/2014/main" id="{6466D11B-E164-4E99-BFBF-E78D291B9ACB}"/>
              </a:ext>
            </a:extLst>
          </p:cNvPr>
          <p:cNvSpPr>
            <a:spLocks noGrp="1"/>
          </p:cNvSpPr>
          <p:nvPr/>
        </p:nvSpPr>
        <p:spPr>
          <a:xfrm>
            <a:off x="990600" y="36576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2026"/>
                </a:solidFill>
              </a:defRPr>
            </a:pPr>
            <a:r>
              <a:rPr sz="1500" b="1">
                <a:solidFill>
                  <a:srgbClr val="172026"/>
                </a:solidFill>
              </a:rPr>
              <a:t>Location</a:t>
            </a:r>
          </a:p>
        </p:txBody>
      </p:sp>
      <p:sp>
        <p:nvSpPr>
          <p:cNvPr id="14" name="sig-b-2">
            <a:extLst>
              <a:ext uri="{FF2B5EF4-FFF2-40B4-BE49-F238E27FC236}">
                <a16:creationId xmlns:a16="http://schemas.microsoft.com/office/drawing/2014/main" id="{13C319B4-10A7-4C1B-86DC-E2CC3BF9D6CA}"/>
              </a:ext>
            </a:extLst>
          </p:cNvPr>
          <p:cNvSpPr>
            <a:spLocks noGrp="1"/>
          </p:cNvSpPr>
          <p:nvPr/>
        </p:nvSpPr>
        <p:spPr>
          <a:xfrm>
            <a:off x="3143250" y="36576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City or remote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9591027-2227-4690-9DB6-2CBB1E43EEF4}"/>
              </a:ext>
            </a:extLst>
          </p:cNvPr>
          <p:cNvSpPr>
            <a:spLocks noGrp="1"/>
          </p:cNvSpPr>
          <p:nvPr/>
        </p:nvSpPr>
        <p:spPr>
          <a:xfrm>
            <a:off x="723900" y="4476750"/>
            <a:ext cx="133350" cy="133350"/>
          </a:xfrm>
          <a:prstGeom prst="ellipse">
            <a:avLst/>
          </a:prstGeom>
          <a:solidFill>
            <a:srgbClr val="E8A302"/>
          </a:solidFill>
          <a:ln w="0">
            <a:solidFill>
              <a:srgbClr val="E8A302"/>
            </a:solidFill>
            <a:prstDash val="solid"/>
          </a:ln>
        </p:spPr>
      </p:sp>
      <p:sp>
        <p:nvSpPr>
          <p:cNvPr id="16" name="sig-h-3">
            <a:extLst>
              <a:ext uri="{FF2B5EF4-FFF2-40B4-BE49-F238E27FC236}">
                <a16:creationId xmlns:a16="http://schemas.microsoft.com/office/drawing/2014/main" id="{458874C8-67BA-4C41-A449-C0980697EAA5}"/>
              </a:ext>
            </a:extLst>
          </p:cNvPr>
          <p:cNvSpPr>
            <a:spLocks noGrp="1"/>
          </p:cNvSpPr>
          <p:nvPr/>
        </p:nvSpPr>
        <p:spPr>
          <a:xfrm>
            <a:off x="990600" y="43624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2026"/>
                </a:solidFill>
              </a:defRPr>
            </a:pPr>
            <a:r>
              <a:rPr sz="1500" b="1">
                <a:solidFill>
                  <a:srgbClr val="172026"/>
                </a:solidFill>
              </a:rPr>
              <a:t>Work authorization</a:t>
            </a:r>
          </a:p>
        </p:txBody>
      </p:sp>
      <p:sp>
        <p:nvSpPr>
          <p:cNvPr id="17" name="sig-b-3">
            <a:extLst>
              <a:ext uri="{FF2B5EF4-FFF2-40B4-BE49-F238E27FC236}">
                <a16:creationId xmlns:a16="http://schemas.microsoft.com/office/drawing/2014/main" id="{6CA69548-4C69-40A1-99CE-C23C9E74E701}"/>
              </a:ext>
            </a:extLst>
          </p:cNvPr>
          <p:cNvSpPr>
            <a:spLocks noGrp="1"/>
          </p:cNvSpPr>
          <p:nvPr/>
        </p:nvSpPr>
        <p:spPr>
          <a:xfrm>
            <a:off x="3143250" y="43624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Sponsorship compatibility</a:t>
            </a:r>
          </a:p>
        </p:txBody>
      </p:sp>
      <p:sp>
        <p:nvSpPr>
          <p:cNvPr id="18" name="resume-callout">
            <a:extLst>
              <a:ext uri="{FF2B5EF4-FFF2-40B4-BE49-F238E27FC236}">
                <a16:creationId xmlns:a16="http://schemas.microsoft.com/office/drawing/2014/main" id="{177C1AE1-0441-48B4-92E3-00609F469403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5905500" cy="742950"/>
          </a:xfrm>
          <a:prstGeom prst="roundRect">
            <a:avLst>
              <a:gd name="adj" fmla="val 15385"/>
            </a:avLst>
          </a:prstGeom>
          <a:solidFill>
            <a:srgbClr val="FFF0EA"/>
          </a:solidFill>
          <a:ln w="9525">
            <a:solidFill>
              <a:srgbClr val="FFF0EA"/>
            </a:solidFill>
            <a:prstDash val="solid"/>
          </a:ln>
        </p:spPr>
      </p:sp>
      <p:sp>
        <p:nvSpPr>
          <p:cNvPr id="19" name="resume-callout-text">
            <a:extLst>
              <a:ext uri="{FF2B5EF4-FFF2-40B4-BE49-F238E27FC236}">
                <a16:creationId xmlns:a16="http://schemas.microsoft.com/office/drawing/2014/main" id="{74DA4030-21DD-42A0-862E-CC4B8AE79D1C}"/>
              </a:ext>
            </a:extLst>
          </p:cNvPr>
          <p:cNvSpPr>
            <a:spLocks noGrp="1"/>
          </p:cNvSpPr>
          <p:nvPr/>
        </p:nvSpPr>
        <p:spPr>
          <a:xfrm>
            <a:off x="914400" y="5314950"/>
            <a:ext cx="5448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B93D22"/>
                </a:solidFill>
              </a:defRPr>
            </a:pPr>
            <a:r>
              <a:rPr sz="1425" b="1">
                <a:solidFill>
                  <a:srgbClr val="B93D22"/>
                </a:solidFill>
              </a:rPr>
              <a:t>Resume intelligence accepts PDF, DOCX and images — but students approve the final skills.</a:t>
            </a:r>
          </a:p>
        </p:txBody>
      </p:sp>
      <p:sp>
        <p:nvSpPr>
          <p:cNvPr id="20" name="footer-rule">
            <a:extLst>
              <a:ext uri="{FF2B5EF4-FFF2-40B4-BE49-F238E27FC236}">
                <a16:creationId xmlns:a16="http://schemas.microsoft.com/office/drawing/2014/main" id="{C1D16432-4618-4361-ABFF-2E74EB9A7F65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10820400" cy="9525"/>
          </a:xfrm>
          <a:prstGeom prst="rect">
            <a:avLst/>
          </a:prstGeom>
          <a:solidFill>
            <a:srgbClr val="D7DEE3"/>
          </a:solidFill>
          <a:ln w="0">
            <a:noFill/>
            <a:prstDash val="solid"/>
          </a:ln>
        </p:spPr>
      </p:sp>
      <p:sp>
        <p:nvSpPr>
          <p:cNvPr id="21" name="footer">
            <a:extLst>
              <a:ext uri="{FF2B5EF4-FFF2-40B4-BE49-F238E27FC236}">
                <a16:creationId xmlns:a16="http://schemas.microsoft.com/office/drawing/2014/main" id="{05D1D062-71F9-41DF-8D74-AE84BB4F9C7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3616D"/>
                </a:solidFill>
              </a:defRPr>
            </a:pPr>
            <a:r>
              <a:rPr sz="825" b="1">
                <a:solidFill>
                  <a:srgbClr val="53616D"/>
                </a:solidFill>
              </a:rPr>
              <a:t>CREDX  /  SMART JOB MATCHING DASHBOARD</a:t>
            </a:r>
          </a:p>
        </p:txBody>
      </p:sp>
    </p:spTree>
    <p:extLst>
      <p:ext uri="{BB962C8B-B14F-4D97-AF65-F5344CB8AC3E}">
        <p14:creationId xmlns:p14="http://schemas.microsoft.com/office/powerpoint/2010/main" val="1568623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kicker-5">
            <a:extLst>
              <a:ext uri="{FF2B5EF4-FFF2-40B4-BE49-F238E27FC236}">
                <a16:creationId xmlns:a16="http://schemas.microsoft.com/office/drawing/2014/main" id="{82FBE45E-5508-4D3B-BE99-06DA41CD53DB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E4512F"/>
                </a:solidFill>
              </a:defRPr>
            </a:pPr>
            <a:r>
              <a:rPr sz="1050" b="1">
                <a:solidFill>
                  <a:srgbClr val="E4512F"/>
                </a:solidFill>
              </a:rPr>
              <a:t>MATCHING ENGINE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ABE9C74D-AD38-493F-935D-A56AE862CEE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72026"/>
                </a:solidFill>
              </a:defRPr>
            </a:pPr>
            <a:r>
              <a:rPr sz="2850" b="1">
                <a:solidFill>
                  <a:srgbClr val="172026"/>
                </a:solidFill>
              </a:rPr>
              <a:t>Three signals create one explainable match score</a:t>
            </a:r>
          </a:p>
        </p:txBody>
      </p:sp>
      <p:sp>
        <p:nvSpPr>
          <p:cNvPr id="3" name="page-5">
            <a:extLst>
              <a:ext uri="{FF2B5EF4-FFF2-40B4-BE49-F238E27FC236}">
                <a16:creationId xmlns:a16="http://schemas.microsoft.com/office/drawing/2014/main" id="{22DAA9F1-5AB0-48A8-B5F1-A9FE9C8F988B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3616D"/>
                </a:solidFill>
              </a:defRPr>
            </a:pPr>
            <a:r>
              <a:rPr sz="975" b="1">
                <a:solidFill>
                  <a:srgbClr val="53616D"/>
                </a:solidFill>
              </a:rPr>
              <a:t>05</a:t>
            </a:r>
          </a:p>
        </p:txBody>
      </p:sp>
      <p:sp>
        <p:nvSpPr>
          <p:cNvPr id="4" name="alg-h-0">
            <a:extLst>
              <a:ext uri="{FF2B5EF4-FFF2-40B4-BE49-F238E27FC236}">
                <a16:creationId xmlns:a16="http://schemas.microsoft.com/office/drawing/2014/main" id="{973B7910-5930-44FE-A3A1-1425C2AAC764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72026"/>
                </a:solidFill>
              </a:defRPr>
            </a:pPr>
            <a:r>
              <a:rPr sz="1650" b="1">
                <a:solidFill>
                  <a:srgbClr val="172026"/>
                </a:solidFill>
              </a:rPr>
              <a:t>Skills</a:t>
            </a:r>
          </a:p>
        </p:txBody>
      </p:sp>
      <p:sp>
        <p:nvSpPr>
          <p:cNvPr id="5" name="alg-d-0">
            <a:extLst>
              <a:ext uri="{FF2B5EF4-FFF2-40B4-BE49-F238E27FC236}">
                <a16:creationId xmlns:a16="http://schemas.microsoft.com/office/drawing/2014/main" id="{BFCD63C8-6456-477D-A6CA-3CE07E09C020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Jaccard overlap</a:t>
            </a:r>
          </a:p>
        </p:txBody>
      </p:sp>
      <p:sp>
        <p:nvSpPr>
          <p:cNvPr id="6" name="bar-bg-0">
            <a:extLst>
              <a:ext uri="{FF2B5EF4-FFF2-40B4-BE49-F238E27FC236}">
                <a16:creationId xmlns:a16="http://schemas.microsoft.com/office/drawing/2014/main" id="{408CC3A9-F89A-4091-A3EC-ABD5FCD69251}"/>
              </a:ext>
            </a:extLst>
          </p:cNvPr>
          <p:cNvSpPr>
            <a:spLocks noGrp="1"/>
          </p:cNvSpPr>
          <p:nvPr/>
        </p:nvSpPr>
        <p:spPr>
          <a:xfrm>
            <a:off x="3810000" y="2000250"/>
            <a:ext cx="4762500" cy="266700"/>
          </a:xfrm>
          <a:prstGeom prst="roundRect">
            <a:avLst>
              <a:gd name="adj" fmla="val 50000"/>
            </a:avLst>
          </a:prstGeom>
          <a:solidFill>
            <a:srgbClr val="E8EEF2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7" name="bar-0">
            <a:extLst>
              <a:ext uri="{FF2B5EF4-FFF2-40B4-BE49-F238E27FC236}">
                <a16:creationId xmlns:a16="http://schemas.microsoft.com/office/drawing/2014/main" id="{F97CFE4B-D2D7-4122-AD97-07892C168DAA}"/>
              </a:ext>
            </a:extLst>
          </p:cNvPr>
          <p:cNvSpPr>
            <a:spLocks noGrp="1"/>
          </p:cNvSpPr>
          <p:nvPr/>
        </p:nvSpPr>
        <p:spPr>
          <a:xfrm>
            <a:off x="3810000" y="2000250"/>
            <a:ext cx="2857500" cy="266700"/>
          </a:xfrm>
          <a:prstGeom prst="roundRect">
            <a:avLst>
              <a:gd name="adj" fmla="val 50000"/>
            </a:avLst>
          </a:prstGeom>
          <a:solidFill>
            <a:srgbClr val="3DADFF"/>
          </a:solidFill>
          <a:ln w="9525">
            <a:solidFill>
              <a:srgbClr val="3DADFF"/>
            </a:solidFill>
            <a:prstDash val="solid"/>
          </a:ln>
        </p:spPr>
      </p:sp>
      <p:sp>
        <p:nvSpPr>
          <p:cNvPr id="8" name="alg-p-0">
            <a:extLst>
              <a:ext uri="{FF2B5EF4-FFF2-40B4-BE49-F238E27FC236}">
                <a16:creationId xmlns:a16="http://schemas.microsoft.com/office/drawing/2014/main" id="{58BEB9FD-53F5-4208-99BD-385417588CD9}"/>
              </a:ext>
            </a:extLst>
          </p:cNvPr>
          <p:cNvSpPr>
            <a:spLocks noGrp="1"/>
          </p:cNvSpPr>
          <p:nvPr/>
        </p:nvSpPr>
        <p:spPr>
          <a:xfrm>
            <a:off x="8858250" y="1866900"/>
            <a:ext cx="95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3DADFF"/>
                </a:solidFill>
              </a:defRPr>
            </a:pPr>
            <a:r>
              <a:rPr sz="2025" b="1">
                <a:solidFill>
                  <a:srgbClr val="3DADFF"/>
                </a:solidFill>
              </a:rPr>
              <a:t>60%</a:t>
            </a:r>
          </a:p>
        </p:txBody>
      </p:sp>
      <p:sp>
        <p:nvSpPr>
          <p:cNvPr id="9" name="alg-h-1">
            <a:extLst>
              <a:ext uri="{FF2B5EF4-FFF2-40B4-BE49-F238E27FC236}">
                <a16:creationId xmlns:a16="http://schemas.microsoft.com/office/drawing/2014/main" id="{7575CC63-18E6-40CB-B94B-05D7CBC67C31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72026"/>
                </a:solidFill>
              </a:defRPr>
            </a:pPr>
            <a:r>
              <a:rPr sz="1650" b="1">
                <a:solidFill>
                  <a:srgbClr val="172026"/>
                </a:solidFill>
              </a:rPr>
              <a:t>GPA</a:t>
            </a:r>
          </a:p>
        </p:txBody>
      </p:sp>
      <p:sp>
        <p:nvSpPr>
          <p:cNvPr id="10" name="alg-d-1">
            <a:extLst>
              <a:ext uri="{FF2B5EF4-FFF2-40B4-BE49-F238E27FC236}">
                <a16:creationId xmlns:a16="http://schemas.microsoft.com/office/drawing/2014/main" id="{0E36D98B-BA6A-45DF-B67D-B805150277F3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Threshold + linear decay</a:t>
            </a:r>
          </a:p>
        </p:txBody>
      </p:sp>
      <p:sp>
        <p:nvSpPr>
          <p:cNvPr id="11" name="bar-bg-1">
            <a:extLst>
              <a:ext uri="{FF2B5EF4-FFF2-40B4-BE49-F238E27FC236}">
                <a16:creationId xmlns:a16="http://schemas.microsoft.com/office/drawing/2014/main" id="{7FC3D62B-087E-4CFE-85E1-A614F7220FDE}"/>
              </a:ext>
            </a:extLst>
          </p:cNvPr>
          <p:cNvSpPr>
            <a:spLocks noGrp="1"/>
          </p:cNvSpPr>
          <p:nvPr/>
        </p:nvSpPr>
        <p:spPr>
          <a:xfrm>
            <a:off x="3810000" y="3028950"/>
            <a:ext cx="4762500" cy="266700"/>
          </a:xfrm>
          <a:prstGeom prst="roundRect">
            <a:avLst>
              <a:gd name="adj" fmla="val 50000"/>
            </a:avLst>
          </a:prstGeom>
          <a:solidFill>
            <a:srgbClr val="E8EEF2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12" name="bar-1">
            <a:extLst>
              <a:ext uri="{FF2B5EF4-FFF2-40B4-BE49-F238E27FC236}">
                <a16:creationId xmlns:a16="http://schemas.microsoft.com/office/drawing/2014/main" id="{C99A5618-69C3-45B9-B959-4EE77504A47B}"/>
              </a:ext>
            </a:extLst>
          </p:cNvPr>
          <p:cNvSpPr>
            <a:spLocks noGrp="1"/>
          </p:cNvSpPr>
          <p:nvPr/>
        </p:nvSpPr>
        <p:spPr>
          <a:xfrm>
            <a:off x="3810000" y="3028950"/>
            <a:ext cx="1190625" cy="266700"/>
          </a:xfrm>
          <a:prstGeom prst="roundRect">
            <a:avLst>
              <a:gd name="adj" fmla="val 50000"/>
            </a:avLst>
          </a:prstGeom>
          <a:solidFill>
            <a:srgbClr val="874FFF"/>
          </a:solidFill>
          <a:ln w="9525">
            <a:solidFill>
              <a:srgbClr val="874FFF"/>
            </a:solidFill>
            <a:prstDash val="solid"/>
          </a:ln>
        </p:spPr>
      </p:sp>
      <p:sp>
        <p:nvSpPr>
          <p:cNvPr id="13" name="alg-p-1">
            <a:extLst>
              <a:ext uri="{FF2B5EF4-FFF2-40B4-BE49-F238E27FC236}">
                <a16:creationId xmlns:a16="http://schemas.microsoft.com/office/drawing/2014/main" id="{6487CD9A-C90F-4BA7-9941-A62FEA85A22D}"/>
              </a:ext>
            </a:extLst>
          </p:cNvPr>
          <p:cNvSpPr>
            <a:spLocks noGrp="1"/>
          </p:cNvSpPr>
          <p:nvPr/>
        </p:nvSpPr>
        <p:spPr>
          <a:xfrm>
            <a:off x="8858250" y="2895600"/>
            <a:ext cx="95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874FFF"/>
                </a:solidFill>
              </a:defRPr>
            </a:pPr>
            <a:r>
              <a:rPr sz="2025" b="1">
                <a:solidFill>
                  <a:srgbClr val="874FFF"/>
                </a:solidFill>
              </a:rPr>
              <a:t>25%</a:t>
            </a:r>
          </a:p>
        </p:txBody>
      </p:sp>
      <p:sp>
        <p:nvSpPr>
          <p:cNvPr id="14" name="alg-h-2">
            <a:extLst>
              <a:ext uri="{FF2B5EF4-FFF2-40B4-BE49-F238E27FC236}">
                <a16:creationId xmlns:a16="http://schemas.microsoft.com/office/drawing/2014/main" id="{B9C70DE5-6E5F-4FDE-8B25-EF50A971F1D0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72026"/>
                </a:solidFill>
              </a:defRPr>
            </a:pPr>
            <a:r>
              <a:rPr sz="1650" b="1">
                <a:solidFill>
                  <a:srgbClr val="172026"/>
                </a:solidFill>
              </a:rPr>
              <a:t>Work authorization</a:t>
            </a:r>
          </a:p>
        </p:txBody>
      </p:sp>
      <p:sp>
        <p:nvSpPr>
          <p:cNvPr id="15" name="alg-d-2">
            <a:extLst>
              <a:ext uri="{FF2B5EF4-FFF2-40B4-BE49-F238E27FC236}">
                <a16:creationId xmlns:a16="http://schemas.microsoft.com/office/drawing/2014/main" id="{B29A9C84-4332-4077-9351-B339A1CF189D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Compatible = 100, otherwise 0</a:t>
            </a:r>
          </a:p>
        </p:txBody>
      </p:sp>
      <p:sp>
        <p:nvSpPr>
          <p:cNvPr id="16" name="bar-bg-2">
            <a:extLst>
              <a:ext uri="{FF2B5EF4-FFF2-40B4-BE49-F238E27FC236}">
                <a16:creationId xmlns:a16="http://schemas.microsoft.com/office/drawing/2014/main" id="{5552E734-D0FE-4F06-B6EF-B72BDD7C8DA1}"/>
              </a:ext>
            </a:extLst>
          </p:cNvPr>
          <p:cNvSpPr>
            <a:spLocks noGrp="1"/>
          </p:cNvSpPr>
          <p:nvPr/>
        </p:nvSpPr>
        <p:spPr>
          <a:xfrm>
            <a:off x="3810000" y="4057650"/>
            <a:ext cx="4762500" cy="266700"/>
          </a:xfrm>
          <a:prstGeom prst="roundRect">
            <a:avLst>
              <a:gd name="adj" fmla="val 50000"/>
            </a:avLst>
          </a:prstGeom>
          <a:solidFill>
            <a:srgbClr val="E8EEF2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17" name="bar-2">
            <a:extLst>
              <a:ext uri="{FF2B5EF4-FFF2-40B4-BE49-F238E27FC236}">
                <a16:creationId xmlns:a16="http://schemas.microsoft.com/office/drawing/2014/main" id="{8F84A32E-5F7C-4B57-AB1D-FFB9DD326E4E}"/>
              </a:ext>
            </a:extLst>
          </p:cNvPr>
          <p:cNvSpPr>
            <a:spLocks noGrp="1"/>
          </p:cNvSpPr>
          <p:nvPr/>
        </p:nvSpPr>
        <p:spPr>
          <a:xfrm>
            <a:off x="3810000" y="4057650"/>
            <a:ext cx="714375" cy="266700"/>
          </a:xfrm>
          <a:prstGeom prst="roundRect">
            <a:avLst>
              <a:gd name="adj" fmla="val 50000"/>
            </a:avLst>
          </a:prstGeom>
          <a:solidFill>
            <a:srgbClr val="E8A302"/>
          </a:solidFill>
          <a:ln w="9525">
            <a:solidFill>
              <a:srgbClr val="E8A302"/>
            </a:solidFill>
            <a:prstDash val="solid"/>
          </a:ln>
        </p:spPr>
      </p:sp>
      <p:sp>
        <p:nvSpPr>
          <p:cNvPr id="18" name="alg-p-2">
            <a:extLst>
              <a:ext uri="{FF2B5EF4-FFF2-40B4-BE49-F238E27FC236}">
                <a16:creationId xmlns:a16="http://schemas.microsoft.com/office/drawing/2014/main" id="{CDD387D7-B447-430D-B7AF-781645C86399}"/>
              </a:ext>
            </a:extLst>
          </p:cNvPr>
          <p:cNvSpPr>
            <a:spLocks noGrp="1"/>
          </p:cNvSpPr>
          <p:nvPr/>
        </p:nvSpPr>
        <p:spPr>
          <a:xfrm>
            <a:off x="8858250" y="3924300"/>
            <a:ext cx="95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E8A302"/>
                </a:solidFill>
              </a:defRPr>
            </a:pPr>
            <a:r>
              <a:rPr sz="2025" b="1">
                <a:solidFill>
                  <a:srgbClr val="E8A302"/>
                </a:solidFill>
              </a:rPr>
              <a:t>15%</a:t>
            </a:r>
          </a:p>
        </p:txBody>
      </p:sp>
      <p:sp>
        <p:nvSpPr>
          <p:cNvPr id="19" name="formula">
            <a:extLst>
              <a:ext uri="{FF2B5EF4-FFF2-40B4-BE49-F238E27FC236}">
                <a16:creationId xmlns:a16="http://schemas.microsoft.com/office/drawing/2014/main" id="{DC95051F-FA48-46BC-8BEF-7561CD797BB6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108204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7DEE3"/>
            </a:solidFill>
            <a:prstDash val="solid"/>
          </a:ln>
        </p:spPr>
      </p:sp>
      <p:sp>
        <p:nvSpPr>
          <p:cNvPr id="20" name="formula-text">
            <a:extLst>
              <a:ext uri="{FF2B5EF4-FFF2-40B4-BE49-F238E27FC236}">
                <a16:creationId xmlns:a16="http://schemas.microsoft.com/office/drawing/2014/main" id="{B5BCB45D-3BE0-4136-A265-E022138A1DC1}"/>
              </a:ext>
            </a:extLst>
          </p:cNvPr>
          <p:cNvSpPr>
            <a:spLocks noGrp="1"/>
          </p:cNvSpPr>
          <p:nvPr/>
        </p:nvSpPr>
        <p:spPr>
          <a:xfrm>
            <a:off x="895350" y="516255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72026"/>
                </a:solidFill>
              </a:defRPr>
            </a:pPr>
            <a:r>
              <a:rPr sz="1800" b="1">
                <a:solidFill>
                  <a:srgbClr val="172026"/>
                </a:solidFill>
              </a:rPr>
              <a:t>Final = round(Skills × 0.60 + GPA × 0.25 + Authorization × 0.15)</a:t>
            </a:r>
          </a:p>
        </p:txBody>
      </p:sp>
      <p:sp>
        <p:nvSpPr>
          <p:cNvPr id="21" name="pill-Cap at 20 when incompatible">
            <a:extLst>
              <a:ext uri="{FF2B5EF4-FFF2-40B4-BE49-F238E27FC236}">
                <a16:creationId xmlns:a16="http://schemas.microsoft.com/office/drawing/2014/main" id="{084B89BB-DFB5-4000-BF03-764CA60762C4}"/>
              </a:ext>
            </a:extLst>
          </p:cNvPr>
          <p:cNvSpPr>
            <a:spLocks noGrp="1"/>
          </p:cNvSpPr>
          <p:nvPr/>
        </p:nvSpPr>
        <p:spPr>
          <a:xfrm>
            <a:off x="9096375" y="5219700"/>
            <a:ext cx="2143125" cy="361950"/>
          </a:xfrm>
          <a:prstGeom prst="roundRect">
            <a:avLst>
              <a:gd name="adj" fmla="val 50000"/>
            </a:avLst>
          </a:prstGeom>
          <a:solidFill>
            <a:srgbClr val="FFEDEA"/>
          </a:solidFill>
          <a:ln w="9525">
            <a:solidFill>
              <a:srgbClr val="FFEDEA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C33B27"/>
                </a:solidFill>
              </a:defRPr>
            </a:pPr>
            <a:r>
              <a:rPr sz="1200" b="1">
                <a:solidFill>
                  <a:srgbClr val="C33B27"/>
                </a:solidFill>
              </a:rPr>
              <a:t>Cap at 20 when incompatible</a:t>
            </a:r>
          </a:p>
        </p:txBody>
      </p:sp>
      <p:sp>
        <p:nvSpPr>
          <p:cNvPr id="22" name="footer-rule">
            <a:extLst>
              <a:ext uri="{FF2B5EF4-FFF2-40B4-BE49-F238E27FC236}">
                <a16:creationId xmlns:a16="http://schemas.microsoft.com/office/drawing/2014/main" id="{75C3A0D0-18E3-4650-B96C-480E32B3018F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10820400" cy="9525"/>
          </a:xfrm>
          <a:prstGeom prst="rect">
            <a:avLst/>
          </a:prstGeom>
          <a:solidFill>
            <a:srgbClr val="D7DEE3"/>
          </a:solidFill>
          <a:ln w="0">
            <a:noFill/>
            <a:prstDash val="solid"/>
          </a:ln>
        </p:spPr>
      </p:sp>
      <p:sp>
        <p:nvSpPr>
          <p:cNvPr id="23" name="footer">
            <a:extLst>
              <a:ext uri="{FF2B5EF4-FFF2-40B4-BE49-F238E27FC236}">
                <a16:creationId xmlns:a16="http://schemas.microsoft.com/office/drawing/2014/main" id="{B7D77153-650F-47CC-BF6E-3AC1364506C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3616D"/>
                </a:solidFill>
              </a:defRPr>
            </a:pPr>
            <a:r>
              <a:rPr sz="825" b="1">
                <a:solidFill>
                  <a:srgbClr val="53616D"/>
                </a:solidFill>
              </a:rPr>
              <a:t>CREDX  /  SMART JOB MATCHING DASHBOARD</a:t>
            </a:r>
          </a:p>
        </p:txBody>
      </p:sp>
    </p:spTree>
    <p:extLst>
      <p:ext uri="{BB962C8B-B14F-4D97-AF65-F5344CB8AC3E}">
        <p14:creationId xmlns:p14="http://schemas.microsoft.com/office/powerpoint/2010/main" val="1056766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kicker-6">
            <a:extLst>
              <a:ext uri="{FF2B5EF4-FFF2-40B4-BE49-F238E27FC236}">
                <a16:creationId xmlns:a16="http://schemas.microsoft.com/office/drawing/2014/main" id="{72F39720-58B2-463B-A362-E3AFB99F48F3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E4512F"/>
                </a:solidFill>
              </a:defRPr>
            </a:pPr>
            <a:r>
              <a:rPr sz="1050" b="1">
                <a:solidFill>
                  <a:srgbClr val="E4512F"/>
                </a:solidFill>
              </a:rPr>
              <a:t>EXPLAIN THE MATCH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67D184F8-4C71-4EAD-BD96-D90815563B66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72026"/>
                </a:solidFill>
              </a:defRPr>
            </a:pPr>
            <a:r>
              <a:rPr sz="2850" b="1">
                <a:solidFill>
                  <a:srgbClr val="172026"/>
                </a:solidFill>
              </a:rPr>
              <a:t>Every recommendation shows its evidence</a:t>
            </a:r>
          </a:p>
        </p:txBody>
      </p:sp>
      <p:sp>
        <p:nvSpPr>
          <p:cNvPr id="3" name="page-6">
            <a:extLst>
              <a:ext uri="{FF2B5EF4-FFF2-40B4-BE49-F238E27FC236}">
                <a16:creationId xmlns:a16="http://schemas.microsoft.com/office/drawing/2014/main" id="{EF8BA339-C744-4D57-989B-5BE59663D4FD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3616D"/>
                </a:solidFill>
              </a:defRPr>
            </a:pPr>
            <a:r>
              <a:rPr sz="975" b="1">
                <a:solidFill>
                  <a:srgbClr val="53616D"/>
                </a:solidFill>
              </a:rPr>
              <a:t>06</a:t>
            </a:r>
          </a:p>
        </p:txBody>
      </p:sp>
      <p:sp>
        <p:nvSpPr>
          <p:cNvPr id="4" name="job-card">
            <a:extLst>
              <a:ext uri="{FF2B5EF4-FFF2-40B4-BE49-F238E27FC236}">
                <a16:creationId xmlns:a16="http://schemas.microsoft.com/office/drawing/2014/main" id="{0B837260-9C6B-4B6E-805E-1619E34BE98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953000" cy="3733800"/>
          </a:xfrm>
          <a:prstGeom prst="roundRect">
            <a:avLst>
              <a:gd name="adj" fmla="val 4082"/>
            </a:avLst>
          </a:prstGeom>
          <a:solidFill>
            <a:srgbClr val="F7FAFC"/>
          </a:solidFill>
          <a:ln w="9525">
            <a:solidFill>
              <a:srgbClr val="D7DEE3"/>
            </a:solidFill>
            <a:prstDash val="solid"/>
          </a:ln>
        </p:spPr>
      </p:sp>
      <p:sp>
        <p:nvSpPr>
          <p:cNvPr id="5" name="job-company">
            <a:extLst>
              <a:ext uri="{FF2B5EF4-FFF2-40B4-BE49-F238E27FC236}">
                <a16:creationId xmlns:a16="http://schemas.microsoft.com/office/drawing/2014/main" id="{3EC78557-FE4A-4BD6-BE17-7E4D1E71CDE8}"/>
              </a:ext>
            </a:extLst>
          </p:cNvPr>
          <p:cNvSpPr>
            <a:spLocks noGrp="1"/>
          </p:cNvSpPr>
          <p:nvPr/>
        </p:nvSpPr>
        <p:spPr>
          <a:xfrm>
            <a:off x="990600" y="19812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E4512F"/>
                </a:solidFill>
              </a:defRPr>
            </a:pPr>
            <a:r>
              <a:rPr sz="1050" b="1">
                <a:solidFill>
                  <a:srgbClr val="E4512F"/>
                </a:solidFill>
              </a:rPr>
              <a:t>NORTHSTAR LABS</a:t>
            </a:r>
          </a:p>
        </p:txBody>
      </p:sp>
      <p:sp>
        <p:nvSpPr>
          <p:cNvPr id="6" name="job-title">
            <a:extLst>
              <a:ext uri="{FF2B5EF4-FFF2-40B4-BE49-F238E27FC236}">
                <a16:creationId xmlns:a16="http://schemas.microsoft.com/office/drawing/2014/main" id="{2C53C4F8-0CD5-4D84-93C0-F15F060B7B1B}"/>
              </a:ext>
            </a:extLst>
          </p:cNvPr>
          <p:cNvSpPr>
            <a:spLocks noGrp="1"/>
          </p:cNvSpPr>
          <p:nvPr/>
        </p:nvSpPr>
        <p:spPr>
          <a:xfrm>
            <a:off x="990600" y="230505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172026"/>
                </a:solidFill>
              </a:defRPr>
            </a:pPr>
            <a:r>
              <a:rPr sz="2175" b="1">
                <a:solidFill>
                  <a:srgbClr val="172026"/>
                </a:solidFill>
              </a:rPr>
              <a:t>Frontend Engineer</a:t>
            </a:r>
          </a:p>
        </p:txBody>
      </p:sp>
      <p:sp>
        <p:nvSpPr>
          <p:cNvPr id="7" name="pill-86% match">
            <a:extLst>
              <a:ext uri="{FF2B5EF4-FFF2-40B4-BE49-F238E27FC236}">
                <a16:creationId xmlns:a16="http://schemas.microsoft.com/office/drawing/2014/main" id="{AC8A3A1E-F2CE-490E-A065-5694D923D863}"/>
              </a:ext>
            </a:extLst>
          </p:cNvPr>
          <p:cNvSpPr>
            <a:spLocks noGrp="1"/>
          </p:cNvSpPr>
          <p:nvPr/>
        </p:nvSpPr>
        <p:spPr>
          <a:xfrm>
            <a:off x="3943350" y="2190750"/>
            <a:ext cx="1390650" cy="361950"/>
          </a:xfrm>
          <a:prstGeom prst="roundRect">
            <a:avLst>
              <a:gd name="adj" fmla="val 50000"/>
            </a:avLst>
          </a:prstGeom>
          <a:solidFill>
            <a:srgbClr val="EAF8EE"/>
          </a:solidFill>
          <a:ln w="9525">
            <a:solidFill>
              <a:srgbClr val="EAF8EE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E9D57"/>
                </a:solidFill>
              </a:defRPr>
            </a:pPr>
            <a:r>
              <a:rPr sz="1200" b="1">
                <a:solidFill>
                  <a:srgbClr val="2E9D57"/>
                </a:solidFill>
              </a:rPr>
              <a:t>86% match</a:t>
            </a:r>
          </a:p>
        </p:txBody>
      </p:sp>
      <p:sp>
        <p:nvSpPr>
          <p:cNvPr id="8" name="job-meta">
            <a:extLst>
              <a:ext uri="{FF2B5EF4-FFF2-40B4-BE49-F238E27FC236}">
                <a16:creationId xmlns:a16="http://schemas.microsoft.com/office/drawing/2014/main" id="{F84FDF60-0435-4B72-B762-6A712930964B}"/>
              </a:ext>
            </a:extLst>
          </p:cNvPr>
          <p:cNvSpPr>
            <a:spLocks noGrp="1"/>
          </p:cNvSpPr>
          <p:nvPr/>
        </p:nvSpPr>
        <p:spPr>
          <a:xfrm>
            <a:off x="990600" y="28575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Bengaluru  •  Hybrid  •  Sponsorship available</a:t>
            </a:r>
          </a:p>
        </p:txBody>
      </p:sp>
      <p:sp>
        <p:nvSpPr>
          <p:cNvPr id="9" name="matched-label">
            <a:extLst>
              <a:ext uri="{FF2B5EF4-FFF2-40B4-BE49-F238E27FC236}">
                <a16:creationId xmlns:a16="http://schemas.microsoft.com/office/drawing/2014/main" id="{59034552-84B8-44C0-94CF-AE9EC7E15151}"/>
              </a:ext>
            </a:extLst>
          </p:cNvPr>
          <p:cNvSpPr>
            <a:spLocks noGrp="1"/>
          </p:cNvSpPr>
          <p:nvPr/>
        </p:nvSpPr>
        <p:spPr>
          <a:xfrm>
            <a:off x="990600" y="34290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3616D"/>
                </a:solidFill>
              </a:defRPr>
            </a:pPr>
            <a:r>
              <a:rPr sz="1200" b="1">
                <a:solidFill>
                  <a:srgbClr val="53616D"/>
                </a:solidFill>
              </a:rPr>
              <a:t>Matched skills</a:t>
            </a:r>
          </a:p>
        </p:txBody>
      </p:sp>
      <p:sp>
        <p:nvSpPr>
          <p:cNvPr id="10" name="pill-React">
            <a:extLst>
              <a:ext uri="{FF2B5EF4-FFF2-40B4-BE49-F238E27FC236}">
                <a16:creationId xmlns:a16="http://schemas.microsoft.com/office/drawing/2014/main" id="{70FF0D2E-7BD2-480F-9069-12235775A328}"/>
              </a:ext>
            </a:extLst>
          </p:cNvPr>
          <p:cNvSpPr>
            <a:spLocks noGrp="1"/>
          </p:cNvSpPr>
          <p:nvPr/>
        </p:nvSpPr>
        <p:spPr>
          <a:xfrm>
            <a:off x="990600" y="3790950"/>
            <a:ext cx="876300" cy="36195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9525">
            <a:solidFill>
              <a:srgbClr val="EAF5FF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3DADFF"/>
                </a:solidFill>
              </a:defRPr>
            </a:pPr>
            <a:r>
              <a:rPr sz="1200" b="1">
                <a:solidFill>
                  <a:srgbClr val="3DADFF"/>
                </a:solidFill>
              </a:rPr>
              <a:t>React</a:t>
            </a:r>
          </a:p>
        </p:txBody>
      </p:sp>
      <p:sp>
        <p:nvSpPr>
          <p:cNvPr id="11" name="pill-TypeScript">
            <a:extLst>
              <a:ext uri="{FF2B5EF4-FFF2-40B4-BE49-F238E27FC236}">
                <a16:creationId xmlns:a16="http://schemas.microsoft.com/office/drawing/2014/main" id="{79EC5626-04CF-491B-84C6-099BD1394AFA}"/>
              </a:ext>
            </a:extLst>
          </p:cNvPr>
          <p:cNvSpPr>
            <a:spLocks noGrp="1"/>
          </p:cNvSpPr>
          <p:nvPr/>
        </p:nvSpPr>
        <p:spPr>
          <a:xfrm>
            <a:off x="1962150" y="3790950"/>
            <a:ext cx="1162050" cy="36195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9525">
            <a:solidFill>
              <a:srgbClr val="EAF5FF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3DADFF"/>
                </a:solidFill>
              </a:defRPr>
            </a:pPr>
            <a:r>
              <a:rPr sz="1200" b="1">
                <a:solidFill>
                  <a:srgbClr val="3DADFF"/>
                </a:solidFill>
              </a:rPr>
              <a:t>TypeScript</a:t>
            </a:r>
          </a:p>
        </p:txBody>
      </p:sp>
      <p:sp>
        <p:nvSpPr>
          <p:cNvPr id="12" name="pill-SQL">
            <a:extLst>
              <a:ext uri="{FF2B5EF4-FFF2-40B4-BE49-F238E27FC236}">
                <a16:creationId xmlns:a16="http://schemas.microsoft.com/office/drawing/2014/main" id="{8E41988E-67BD-46FF-888D-5960476C3F57}"/>
              </a:ext>
            </a:extLst>
          </p:cNvPr>
          <p:cNvSpPr>
            <a:spLocks noGrp="1"/>
          </p:cNvSpPr>
          <p:nvPr/>
        </p:nvSpPr>
        <p:spPr>
          <a:xfrm>
            <a:off x="3219450" y="3790950"/>
            <a:ext cx="723900" cy="36195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9525">
            <a:solidFill>
              <a:srgbClr val="EAF5FF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3DADFF"/>
                </a:solidFill>
              </a:defRPr>
            </a:pPr>
            <a:r>
              <a:rPr sz="1200" b="1">
                <a:solidFill>
                  <a:srgbClr val="3DADFF"/>
                </a:solidFill>
              </a:rPr>
              <a:t>SQL</a:t>
            </a:r>
          </a:p>
        </p:txBody>
      </p:sp>
      <p:sp>
        <p:nvSpPr>
          <p:cNvPr id="13" name="job-note">
            <a:extLst>
              <a:ext uri="{FF2B5EF4-FFF2-40B4-BE49-F238E27FC236}">
                <a16:creationId xmlns:a16="http://schemas.microsoft.com/office/drawing/2014/main" id="{6FBACC0D-A2DF-4521-8425-D752FFB1A091}"/>
              </a:ext>
            </a:extLst>
          </p:cNvPr>
          <p:cNvSpPr>
            <a:spLocks noGrp="1"/>
          </p:cNvSpPr>
          <p:nvPr/>
        </p:nvSpPr>
        <p:spPr>
          <a:xfrm>
            <a:off x="990600" y="455295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72026"/>
                </a:solidFill>
              </a:defRPr>
            </a:pPr>
            <a:r>
              <a:rPr sz="1425" b="1">
                <a:solidFill>
                  <a:srgbClr val="172026"/>
                </a:solidFill>
              </a:rPr>
              <a:t>A high score is useful only when the student can understand it.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514200A-CDDC-41E7-8442-CEB25C582998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133350" cy="133350"/>
          </a:xfrm>
          <a:prstGeom prst="ellipse">
            <a:avLst/>
          </a:prstGeom>
          <a:solidFill>
            <a:srgbClr val="3DADFF"/>
          </a:solidFill>
          <a:ln w="0">
            <a:solidFill>
              <a:srgbClr val="3DADFF"/>
            </a:solidFill>
            <a:prstDash val="solid"/>
          </a:ln>
        </p:spPr>
      </p:sp>
      <p:sp>
        <p:nvSpPr>
          <p:cNvPr id="15" name="why-h-0">
            <a:extLst>
              <a:ext uri="{FF2B5EF4-FFF2-40B4-BE49-F238E27FC236}">
                <a16:creationId xmlns:a16="http://schemas.microsoft.com/office/drawing/2014/main" id="{365B8914-5839-420D-B8EA-BA4645CE9FE4}"/>
              </a:ext>
            </a:extLst>
          </p:cNvPr>
          <p:cNvSpPr>
            <a:spLocks noGrp="1"/>
          </p:cNvSpPr>
          <p:nvPr/>
        </p:nvSpPr>
        <p:spPr>
          <a:xfrm>
            <a:off x="6781800" y="20383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Skill fit</a:t>
            </a:r>
          </a:p>
        </p:txBody>
      </p:sp>
      <p:sp>
        <p:nvSpPr>
          <p:cNvPr id="16" name="why-v-0">
            <a:extLst>
              <a:ext uri="{FF2B5EF4-FFF2-40B4-BE49-F238E27FC236}">
                <a16:creationId xmlns:a16="http://schemas.microsoft.com/office/drawing/2014/main" id="{32A41228-93FB-436E-9F70-35FCF0FB868C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100" b="1">
                <a:solidFill>
                  <a:srgbClr val="172026"/>
                </a:solidFill>
              </a:defRPr>
            </a:pPr>
            <a:r>
              <a:rPr sz="2100" b="1">
                <a:solidFill>
                  <a:srgbClr val="172026"/>
                </a:solidFill>
              </a:rPr>
              <a:t>83%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E745CC-5B3B-438B-88B2-12BB6BEACC93}"/>
              </a:ext>
            </a:extLst>
          </p:cNvPr>
          <p:cNvSpPr>
            <a:spLocks noGrp="1"/>
          </p:cNvSpPr>
          <p:nvPr/>
        </p:nvSpPr>
        <p:spPr>
          <a:xfrm>
            <a:off x="6477000" y="2590800"/>
            <a:ext cx="4476750" cy="9525"/>
          </a:xfrm>
          <a:prstGeom prst="rect">
            <a:avLst/>
          </a:prstGeom>
          <a:solidFill>
            <a:srgbClr val="D7DEE3"/>
          </a:solidFill>
          <a:ln w="0">
            <a:solidFill>
              <a:srgbClr val="D7DEE3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C157441-3784-4EAF-A9B5-F04EFEF9F258}"/>
              </a:ext>
            </a:extLst>
          </p:cNvPr>
          <p:cNvSpPr>
            <a:spLocks noGrp="1"/>
          </p:cNvSpPr>
          <p:nvPr/>
        </p:nvSpPr>
        <p:spPr>
          <a:xfrm>
            <a:off x="6477000" y="3295650"/>
            <a:ext cx="133350" cy="133350"/>
          </a:xfrm>
          <a:prstGeom prst="ellipse">
            <a:avLst/>
          </a:prstGeom>
          <a:solidFill>
            <a:srgbClr val="874FFF"/>
          </a:solidFill>
          <a:ln w="0">
            <a:solidFill>
              <a:srgbClr val="874FFF"/>
            </a:solidFill>
            <a:prstDash val="solid"/>
          </a:ln>
        </p:spPr>
      </p:sp>
      <p:sp>
        <p:nvSpPr>
          <p:cNvPr id="19" name="why-h-1">
            <a:extLst>
              <a:ext uri="{FF2B5EF4-FFF2-40B4-BE49-F238E27FC236}">
                <a16:creationId xmlns:a16="http://schemas.microsoft.com/office/drawing/2014/main" id="{31537216-8BC0-48B9-B610-ADB81177FBF9}"/>
              </a:ext>
            </a:extLst>
          </p:cNvPr>
          <p:cNvSpPr>
            <a:spLocks noGrp="1"/>
          </p:cNvSpPr>
          <p:nvPr/>
        </p:nvSpPr>
        <p:spPr>
          <a:xfrm>
            <a:off x="6781800" y="31432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GPA fit</a:t>
            </a:r>
          </a:p>
        </p:txBody>
      </p:sp>
      <p:sp>
        <p:nvSpPr>
          <p:cNvPr id="20" name="why-v-1">
            <a:extLst>
              <a:ext uri="{FF2B5EF4-FFF2-40B4-BE49-F238E27FC236}">
                <a16:creationId xmlns:a16="http://schemas.microsoft.com/office/drawing/2014/main" id="{32B5868F-4421-4B0C-B164-EA30E6F26227}"/>
              </a:ext>
            </a:extLst>
          </p:cNvPr>
          <p:cNvSpPr>
            <a:spLocks noGrp="1"/>
          </p:cNvSpPr>
          <p:nvPr/>
        </p:nvSpPr>
        <p:spPr>
          <a:xfrm>
            <a:off x="8858250" y="31051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100" b="1">
                <a:solidFill>
                  <a:srgbClr val="172026"/>
                </a:solidFill>
              </a:defRPr>
            </a:pPr>
            <a:r>
              <a:rPr sz="2100" b="1">
                <a:solidFill>
                  <a:srgbClr val="172026"/>
                </a:solidFill>
              </a:rPr>
              <a:t>100%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165826-87C6-426B-953A-AE32DE99E1A2}"/>
              </a:ext>
            </a:extLst>
          </p:cNvPr>
          <p:cNvSpPr>
            <a:spLocks noGrp="1"/>
          </p:cNvSpPr>
          <p:nvPr/>
        </p:nvSpPr>
        <p:spPr>
          <a:xfrm>
            <a:off x="6477000" y="3695700"/>
            <a:ext cx="4476750" cy="9525"/>
          </a:xfrm>
          <a:prstGeom prst="rect">
            <a:avLst/>
          </a:prstGeom>
          <a:solidFill>
            <a:srgbClr val="D7DEE3"/>
          </a:solidFill>
          <a:ln w="0">
            <a:solidFill>
              <a:srgbClr val="D7DEE3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D670F70-6FED-43B0-A735-B5B83430E462}"/>
              </a:ext>
            </a:extLst>
          </p:cNvPr>
          <p:cNvSpPr>
            <a:spLocks noGrp="1"/>
          </p:cNvSpPr>
          <p:nvPr/>
        </p:nvSpPr>
        <p:spPr>
          <a:xfrm>
            <a:off x="6477000" y="4400550"/>
            <a:ext cx="133350" cy="133350"/>
          </a:xfrm>
          <a:prstGeom prst="ellipse">
            <a:avLst/>
          </a:prstGeom>
          <a:solidFill>
            <a:srgbClr val="2E9D57"/>
          </a:solidFill>
          <a:ln w="0">
            <a:solidFill>
              <a:srgbClr val="2E9D57"/>
            </a:solidFill>
            <a:prstDash val="solid"/>
          </a:ln>
        </p:spPr>
      </p:sp>
      <p:sp>
        <p:nvSpPr>
          <p:cNvPr id="23" name="why-h-2">
            <a:extLst>
              <a:ext uri="{FF2B5EF4-FFF2-40B4-BE49-F238E27FC236}">
                <a16:creationId xmlns:a16="http://schemas.microsoft.com/office/drawing/2014/main" id="{978EB2E3-DDFE-484F-BC33-EC2F4616A2F7}"/>
              </a:ext>
            </a:extLst>
          </p:cNvPr>
          <p:cNvSpPr>
            <a:spLocks noGrp="1"/>
          </p:cNvSpPr>
          <p:nvPr/>
        </p:nvSpPr>
        <p:spPr>
          <a:xfrm>
            <a:off x="6781800" y="42481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Authorization</a:t>
            </a:r>
          </a:p>
        </p:txBody>
      </p:sp>
      <p:sp>
        <p:nvSpPr>
          <p:cNvPr id="24" name="why-v-2">
            <a:extLst>
              <a:ext uri="{FF2B5EF4-FFF2-40B4-BE49-F238E27FC236}">
                <a16:creationId xmlns:a16="http://schemas.microsoft.com/office/drawing/2014/main" id="{3D839E01-8BE3-44D2-BA70-B8CBC28151CE}"/>
              </a:ext>
            </a:extLst>
          </p:cNvPr>
          <p:cNvSpPr>
            <a:spLocks noGrp="1"/>
          </p:cNvSpPr>
          <p:nvPr/>
        </p:nvSpPr>
        <p:spPr>
          <a:xfrm>
            <a:off x="8858250" y="42100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100" b="1">
                <a:solidFill>
                  <a:srgbClr val="172026"/>
                </a:solidFill>
              </a:defRPr>
            </a:pPr>
            <a:r>
              <a:rPr sz="2100" b="1">
                <a:solidFill>
                  <a:srgbClr val="172026"/>
                </a:solidFill>
              </a:rPr>
              <a:t>Compatible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048E84-BB79-46B7-BB62-7CA372CBCCE2}"/>
              </a:ext>
            </a:extLst>
          </p:cNvPr>
          <p:cNvSpPr>
            <a:spLocks noGrp="1"/>
          </p:cNvSpPr>
          <p:nvPr/>
        </p:nvSpPr>
        <p:spPr>
          <a:xfrm>
            <a:off x="6477000" y="4800600"/>
            <a:ext cx="4476750" cy="9525"/>
          </a:xfrm>
          <a:prstGeom prst="rect">
            <a:avLst/>
          </a:prstGeom>
          <a:solidFill>
            <a:srgbClr val="D7DEE3"/>
          </a:solidFill>
          <a:ln w="0">
            <a:solidFill>
              <a:srgbClr val="D7DEE3"/>
            </a:solidFill>
            <a:prstDash val="solid"/>
          </a:ln>
        </p:spPr>
      </p:sp>
      <p:sp>
        <p:nvSpPr>
          <p:cNvPr id="26" name="why-callout">
            <a:extLst>
              <a:ext uri="{FF2B5EF4-FFF2-40B4-BE49-F238E27FC236}">
                <a16:creationId xmlns:a16="http://schemas.microsoft.com/office/drawing/2014/main" id="{732412B4-3CC2-4DF5-BA03-9A38AE3379ED}"/>
              </a:ext>
            </a:extLst>
          </p:cNvPr>
          <p:cNvSpPr>
            <a:spLocks noGrp="1"/>
          </p:cNvSpPr>
          <p:nvPr/>
        </p:nvSpPr>
        <p:spPr>
          <a:xfrm>
            <a:off x="6286500" y="5143500"/>
            <a:ext cx="4762500" cy="666750"/>
          </a:xfrm>
          <a:prstGeom prst="roundRect">
            <a:avLst>
              <a:gd name="adj" fmla="val 17143"/>
            </a:avLst>
          </a:prstGeom>
          <a:solidFill>
            <a:srgbClr val="FFF0EA"/>
          </a:solidFill>
          <a:ln w="9525">
            <a:solidFill>
              <a:srgbClr val="FFF0EA"/>
            </a:solidFill>
            <a:prstDash val="solid"/>
          </a:ln>
        </p:spPr>
      </p:sp>
      <p:sp>
        <p:nvSpPr>
          <p:cNvPr id="27" name="why-callout-text">
            <a:extLst>
              <a:ext uri="{FF2B5EF4-FFF2-40B4-BE49-F238E27FC236}">
                <a16:creationId xmlns:a16="http://schemas.microsoft.com/office/drawing/2014/main" id="{2A95DFA9-9F8C-4A28-8F45-82D664FE02A2}"/>
              </a:ext>
            </a:extLst>
          </p:cNvPr>
          <p:cNvSpPr>
            <a:spLocks noGrp="1"/>
          </p:cNvSpPr>
          <p:nvPr/>
        </p:nvSpPr>
        <p:spPr>
          <a:xfrm>
            <a:off x="6553200" y="5257800"/>
            <a:ext cx="428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B93D22"/>
                </a:solidFill>
              </a:defRPr>
            </a:pPr>
            <a:r>
              <a:rPr sz="1425" b="1">
                <a:solidFill>
                  <a:srgbClr val="B93D22"/>
                </a:solidFill>
              </a:rPr>
              <a:t>Judges can see why this student matched this listing.</a:t>
            </a:r>
          </a:p>
        </p:txBody>
      </p:sp>
      <p:sp>
        <p:nvSpPr>
          <p:cNvPr id="28" name="footer-rule">
            <a:extLst>
              <a:ext uri="{FF2B5EF4-FFF2-40B4-BE49-F238E27FC236}">
                <a16:creationId xmlns:a16="http://schemas.microsoft.com/office/drawing/2014/main" id="{656D462E-4485-4ECC-BD3D-EE5806F9D852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10820400" cy="9525"/>
          </a:xfrm>
          <a:prstGeom prst="rect">
            <a:avLst/>
          </a:prstGeom>
          <a:solidFill>
            <a:srgbClr val="D7DEE3"/>
          </a:solidFill>
          <a:ln w="0">
            <a:noFill/>
            <a:prstDash val="solid"/>
          </a:ln>
        </p:spPr>
      </p:sp>
      <p:sp>
        <p:nvSpPr>
          <p:cNvPr id="29" name="footer">
            <a:extLst>
              <a:ext uri="{FF2B5EF4-FFF2-40B4-BE49-F238E27FC236}">
                <a16:creationId xmlns:a16="http://schemas.microsoft.com/office/drawing/2014/main" id="{4B851650-14A8-4F2C-8776-121E8FF336E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3616D"/>
                </a:solidFill>
              </a:defRPr>
            </a:pPr>
            <a:r>
              <a:rPr sz="825" b="1">
                <a:solidFill>
                  <a:srgbClr val="53616D"/>
                </a:solidFill>
              </a:rPr>
              <a:t>CREDX  /  SMART JOB MATCHING DASHBOARD</a:t>
            </a:r>
          </a:p>
        </p:txBody>
      </p:sp>
    </p:spTree>
    <p:extLst>
      <p:ext uri="{BB962C8B-B14F-4D97-AF65-F5344CB8AC3E}">
        <p14:creationId xmlns:p14="http://schemas.microsoft.com/office/powerpoint/2010/main" val="1831126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kicker-7">
            <a:extLst>
              <a:ext uri="{FF2B5EF4-FFF2-40B4-BE49-F238E27FC236}">
                <a16:creationId xmlns:a16="http://schemas.microsoft.com/office/drawing/2014/main" id="{0094B0E4-41CD-4F9D-A445-1339988B76E8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E4512F"/>
                </a:solidFill>
              </a:defRPr>
            </a:pPr>
            <a:r>
              <a:rPr sz="1050" b="1">
                <a:solidFill>
                  <a:srgbClr val="E4512F"/>
                </a:solidFill>
              </a:rPr>
              <a:t>PRODUCT WORKFLOW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965A6BCE-4FC6-4531-A836-1E7CC388CCA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72026"/>
                </a:solidFill>
              </a:defRPr>
            </a:pPr>
            <a:r>
              <a:rPr sz="2850" b="1">
                <a:solidFill>
                  <a:srgbClr val="172026"/>
                </a:solidFill>
              </a:rPr>
              <a:t>The student journey works end to end</a:t>
            </a:r>
          </a:p>
        </p:txBody>
      </p:sp>
      <p:sp>
        <p:nvSpPr>
          <p:cNvPr id="3" name="page-7">
            <a:extLst>
              <a:ext uri="{FF2B5EF4-FFF2-40B4-BE49-F238E27FC236}">
                <a16:creationId xmlns:a16="http://schemas.microsoft.com/office/drawing/2014/main" id="{A6B74050-2088-4AA7-8ED6-D28E6847810E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3616D"/>
                </a:solidFill>
              </a:defRPr>
            </a:pPr>
            <a:r>
              <a:rPr sz="975" b="1">
                <a:solidFill>
                  <a:srgbClr val="53616D"/>
                </a:solidFill>
              </a:rPr>
              <a:t>07</a:t>
            </a:r>
          </a:p>
        </p:txBody>
      </p:sp>
      <p:sp>
        <p:nvSpPr>
          <p:cNvPr id="4" name="journey-arrow-0">
            <a:extLst>
              <a:ext uri="{FF2B5EF4-FFF2-40B4-BE49-F238E27FC236}">
                <a16:creationId xmlns:a16="http://schemas.microsoft.com/office/drawing/2014/main" id="{982AE294-D484-4A24-A1DD-CF9E3A30EF0C}"/>
              </a:ext>
            </a:extLst>
          </p:cNvPr>
          <p:cNvSpPr>
            <a:spLocks noGrp="1"/>
          </p:cNvSpPr>
          <p:nvPr/>
        </p:nvSpPr>
        <p:spPr>
          <a:xfrm>
            <a:off x="1752600" y="3095625"/>
            <a:ext cx="533400" cy="190500"/>
          </a:xfrm>
          <a:prstGeom prst="rightArrow">
            <a:avLst/>
          </a:prstGeom>
          <a:solidFill>
            <a:srgbClr val="53616D"/>
          </a:solidFill>
          <a:ln w="0">
            <a:solidFill>
              <a:srgbClr val="53616D"/>
            </a:solidFill>
            <a:prstDash val="solid"/>
          </a:ln>
        </p:spPr>
      </p:sp>
      <p:sp>
        <p:nvSpPr>
          <p:cNvPr id="5" name="journey-arrow-1">
            <a:extLst>
              <a:ext uri="{FF2B5EF4-FFF2-40B4-BE49-F238E27FC236}">
                <a16:creationId xmlns:a16="http://schemas.microsoft.com/office/drawing/2014/main" id="{5C022FEE-CDA0-4DBD-9DF8-7511B1DAA465}"/>
              </a:ext>
            </a:extLst>
          </p:cNvPr>
          <p:cNvSpPr>
            <a:spLocks noGrp="1"/>
          </p:cNvSpPr>
          <p:nvPr/>
        </p:nvSpPr>
        <p:spPr>
          <a:xfrm>
            <a:off x="3562350" y="3095625"/>
            <a:ext cx="533400" cy="190500"/>
          </a:xfrm>
          <a:prstGeom prst="rightArrow">
            <a:avLst/>
          </a:prstGeom>
          <a:solidFill>
            <a:srgbClr val="53616D"/>
          </a:solidFill>
          <a:ln w="0">
            <a:solidFill>
              <a:srgbClr val="53616D"/>
            </a:solidFill>
            <a:prstDash val="solid"/>
          </a:ln>
        </p:spPr>
      </p:sp>
      <p:sp>
        <p:nvSpPr>
          <p:cNvPr id="6" name="journey-arrow-2">
            <a:extLst>
              <a:ext uri="{FF2B5EF4-FFF2-40B4-BE49-F238E27FC236}">
                <a16:creationId xmlns:a16="http://schemas.microsoft.com/office/drawing/2014/main" id="{E114834E-20A7-435A-9273-B1B1B3DB851B}"/>
              </a:ext>
            </a:extLst>
          </p:cNvPr>
          <p:cNvSpPr>
            <a:spLocks noGrp="1"/>
          </p:cNvSpPr>
          <p:nvPr/>
        </p:nvSpPr>
        <p:spPr>
          <a:xfrm>
            <a:off x="5372100" y="3095625"/>
            <a:ext cx="533400" cy="190500"/>
          </a:xfrm>
          <a:prstGeom prst="rightArrow">
            <a:avLst/>
          </a:prstGeom>
          <a:solidFill>
            <a:srgbClr val="53616D"/>
          </a:solidFill>
          <a:ln w="0">
            <a:solidFill>
              <a:srgbClr val="53616D"/>
            </a:solidFill>
            <a:prstDash val="solid"/>
          </a:ln>
        </p:spPr>
      </p:sp>
      <p:sp>
        <p:nvSpPr>
          <p:cNvPr id="7" name="journey-arrow-3">
            <a:extLst>
              <a:ext uri="{FF2B5EF4-FFF2-40B4-BE49-F238E27FC236}">
                <a16:creationId xmlns:a16="http://schemas.microsoft.com/office/drawing/2014/main" id="{8FAA8DF4-77D5-4A23-B190-E8D730723B85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33400" cy="190500"/>
          </a:xfrm>
          <a:prstGeom prst="rightArrow">
            <a:avLst/>
          </a:prstGeom>
          <a:solidFill>
            <a:srgbClr val="53616D"/>
          </a:solidFill>
          <a:ln w="0">
            <a:solidFill>
              <a:srgbClr val="53616D"/>
            </a:solidFill>
            <a:prstDash val="solid"/>
          </a:ln>
        </p:spPr>
      </p:sp>
      <p:sp>
        <p:nvSpPr>
          <p:cNvPr id="8" name="journey-arrow-4">
            <a:extLst>
              <a:ext uri="{FF2B5EF4-FFF2-40B4-BE49-F238E27FC236}">
                <a16:creationId xmlns:a16="http://schemas.microsoft.com/office/drawing/2014/main" id="{21B02E89-24B5-4CAB-B46A-5B903B5E1025}"/>
              </a:ext>
            </a:extLst>
          </p:cNvPr>
          <p:cNvSpPr>
            <a:spLocks noGrp="1"/>
          </p:cNvSpPr>
          <p:nvPr/>
        </p:nvSpPr>
        <p:spPr>
          <a:xfrm>
            <a:off x="8991600" y="3095625"/>
            <a:ext cx="533400" cy="190500"/>
          </a:xfrm>
          <a:prstGeom prst="rightArrow">
            <a:avLst/>
          </a:prstGeom>
          <a:solidFill>
            <a:srgbClr val="53616D"/>
          </a:solidFill>
          <a:ln w="0">
            <a:solidFill>
              <a:srgbClr val="53616D"/>
            </a:solidFill>
            <a:prstDash val="solid"/>
          </a:ln>
        </p:spPr>
      </p:sp>
      <p:sp>
        <p:nvSpPr>
          <p:cNvPr id="9" name="journey-node-0">
            <a:extLst>
              <a:ext uri="{FF2B5EF4-FFF2-40B4-BE49-F238E27FC236}">
                <a16:creationId xmlns:a16="http://schemas.microsoft.com/office/drawing/2014/main" id="{1142F946-5E46-4A15-817C-3CD28F563E46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1066800" cy="1066800"/>
          </a:xfrm>
          <a:prstGeom prst="ellipse">
            <a:avLst/>
          </a:prstGeom>
          <a:solidFill>
            <a:srgbClr val="3DADFF"/>
          </a:solidFill>
          <a:ln w="0">
            <a:solidFill>
              <a:srgbClr val="3DADFF"/>
            </a:solidFill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journey-label-0">
            <a:extLst>
              <a:ext uri="{FF2B5EF4-FFF2-40B4-BE49-F238E27FC236}">
                <a16:creationId xmlns:a16="http://schemas.microsoft.com/office/drawing/2014/main" id="{4FACA921-EAAD-4ECC-8C4C-A5A71ED20FE3}"/>
              </a:ext>
            </a:extLst>
          </p:cNvPr>
          <p:cNvSpPr>
            <a:spLocks noGrp="1"/>
          </p:cNvSpPr>
          <p:nvPr/>
        </p:nvSpPr>
        <p:spPr>
          <a:xfrm>
            <a:off x="571500" y="4000500"/>
            <a:ext cx="1295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Create profile</a:t>
            </a:r>
          </a:p>
        </p:txBody>
      </p:sp>
      <p:sp>
        <p:nvSpPr>
          <p:cNvPr id="11" name="journey-node-1">
            <a:extLst>
              <a:ext uri="{FF2B5EF4-FFF2-40B4-BE49-F238E27FC236}">
                <a16:creationId xmlns:a16="http://schemas.microsoft.com/office/drawing/2014/main" id="{5EFF44E6-06F4-4C8E-873D-628F3E24BB78}"/>
              </a:ext>
            </a:extLst>
          </p:cNvPr>
          <p:cNvSpPr>
            <a:spLocks noGrp="1"/>
          </p:cNvSpPr>
          <p:nvPr/>
        </p:nvSpPr>
        <p:spPr>
          <a:xfrm>
            <a:off x="2495550" y="2705100"/>
            <a:ext cx="1066800" cy="1066800"/>
          </a:xfrm>
          <a:prstGeom prst="ellipse">
            <a:avLst/>
          </a:prstGeom>
          <a:solidFill>
            <a:srgbClr val="874FFF"/>
          </a:solidFill>
          <a:ln w="0">
            <a:solidFill>
              <a:srgbClr val="874FFF"/>
            </a:solidFill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journey-label-1">
            <a:extLst>
              <a:ext uri="{FF2B5EF4-FFF2-40B4-BE49-F238E27FC236}">
                <a16:creationId xmlns:a16="http://schemas.microsoft.com/office/drawing/2014/main" id="{F529428A-9A49-41A6-B7B1-3E67B9E27AB8}"/>
              </a:ext>
            </a:extLst>
          </p:cNvPr>
          <p:cNvSpPr>
            <a:spLocks noGrp="1"/>
          </p:cNvSpPr>
          <p:nvPr/>
        </p:nvSpPr>
        <p:spPr>
          <a:xfrm>
            <a:off x="2381250" y="4000500"/>
            <a:ext cx="1295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Upload resume</a:t>
            </a:r>
          </a:p>
        </p:txBody>
      </p:sp>
      <p:sp>
        <p:nvSpPr>
          <p:cNvPr id="13" name="journey-node-2">
            <a:extLst>
              <a:ext uri="{FF2B5EF4-FFF2-40B4-BE49-F238E27FC236}">
                <a16:creationId xmlns:a16="http://schemas.microsoft.com/office/drawing/2014/main" id="{EF206F6B-DE3D-4604-BA08-A6249D6DDA26}"/>
              </a:ext>
            </a:extLst>
          </p:cNvPr>
          <p:cNvSpPr>
            <a:spLocks noGrp="1"/>
          </p:cNvSpPr>
          <p:nvPr/>
        </p:nvSpPr>
        <p:spPr>
          <a:xfrm>
            <a:off x="4305300" y="2705100"/>
            <a:ext cx="1066800" cy="1066800"/>
          </a:xfrm>
          <a:prstGeom prst="ellipse">
            <a:avLst/>
          </a:prstGeom>
          <a:solidFill>
            <a:srgbClr val="E8A302"/>
          </a:solidFill>
          <a:ln w="0">
            <a:solidFill>
              <a:srgbClr val="E8A302"/>
            </a:solidFill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journey-label-2">
            <a:extLst>
              <a:ext uri="{FF2B5EF4-FFF2-40B4-BE49-F238E27FC236}">
                <a16:creationId xmlns:a16="http://schemas.microsoft.com/office/drawing/2014/main" id="{873F8888-DB59-4F71-B7EF-59F8C37DECFB}"/>
              </a:ext>
            </a:extLst>
          </p:cNvPr>
          <p:cNvSpPr>
            <a:spLocks noGrp="1"/>
          </p:cNvSpPr>
          <p:nvPr/>
        </p:nvSpPr>
        <p:spPr>
          <a:xfrm>
            <a:off x="4191000" y="4000500"/>
            <a:ext cx="1295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Review matches</a:t>
            </a:r>
          </a:p>
        </p:txBody>
      </p:sp>
      <p:sp>
        <p:nvSpPr>
          <p:cNvPr id="15" name="journey-node-3">
            <a:extLst>
              <a:ext uri="{FF2B5EF4-FFF2-40B4-BE49-F238E27FC236}">
                <a16:creationId xmlns:a16="http://schemas.microsoft.com/office/drawing/2014/main" id="{178199AB-F81F-48B5-9C7A-0A296A103BBA}"/>
              </a:ext>
            </a:extLst>
          </p:cNvPr>
          <p:cNvSpPr>
            <a:spLocks noGrp="1"/>
          </p:cNvSpPr>
          <p:nvPr/>
        </p:nvSpPr>
        <p:spPr>
          <a:xfrm>
            <a:off x="6115050" y="2705100"/>
            <a:ext cx="1066800" cy="1066800"/>
          </a:xfrm>
          <a:prstGeom prst="ellipse">
            <a:avLst/>
          </a:prstGeom>
          <a:solidFill>
            <a:srgbClr val="E4512F"/>
          </a:solidFill>
          <a:ln w="0">
            <a:solidFill>
              <a:srgbClr val="E4512F"/>
            </a:solidFill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journey-label-3">
            <a:extLst>
              <a:ext uri="{FF2B5EF4-FFF2-40B4-BE49-F238E27FC236}">
                <a16:creationId xmlns:a16="http://schemas.microsoft.com/office/drawing/2014/main" id="{0671E653-198F-4703-BC9B-367F73960E7D}"/>
              </a:ext>
            </a:extLst>
          </p:cNvPr>
          <p:cNvSpPr>
            <a:spLocks noGrp="1"/>
          </p:cNvSpPr>
          <p:nvPr/>
        </p:nvSpPr>
        <p:spPr>
          <a:xfrm>
            <a:off x="6000750" y="4000500"/>
            <a:ext cx="1295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Open role</a:t>
            </a:r>
          </a:p>
        </p:txBody>
      </p:sp>
      <p:sp>
        <p:nvSpPr>
          <p:cNvPr id="17" name="journey-node-4">
            <a:extLst>
              <a:ext uri="{FF2B5EF4-FFF2-40B4-BE49-F238E27FC236}">
                <a16:creationId xmlns:a16="http://schemas.microsoft.com/office/drawing/2014/main" id="{D66A8B7B-E267-4E28-BC93-214ABEAAE1AB}"/>
              </a:ext>
            </a:extLst>
          </p:cNvPr>
          <p:cNvSpPr>
            <a:spLocks noGrp="1"/>
          </p:cNvSpPr>
          <p:nvPr/>
        </p:nvSpPr>
        <p:spPr>
          <a:xfrm>
            <a:off x="7924800" y="2705100"/>
            <a:ext cx="1066800" cy="1066800"/>
          </a:xfrm>
          <a:prstGeom prst="ellipse">
            <a:avLst/>
          </a:prstGeom>
          <a:solidFill>
            <a:srgbClr val="2E9D57"/>
          </a:solidFill>
          <a:ln w="0">
            <a:solidFill>
              <a:srgbClr val="2E9D57"/>
            </a:solidFill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journey-label-4">
            <a:extLst>
              <a:ext uri="{FF2B5EF4-FFF2-40B4-BE49-F238E27FC236}">
                <a16:creationId xmlns:a16="http://schemas.microsoft.com/office/drawing/2014/main" id="{A0C903E2-8BB0-450C-BB60-07A2820D520D}"/>
              </a:ext>
            </a:extLst>
          </p:cNvPr>
          <p:cNvSpPr>
            <a:spLocks noGrp="1"/>
          </p:cNvSpPr>
          <p:nvPr/>
        </p:nvSpPr>
        <p:spPr>
          <a:xfrm>
            <a:off x="7810500" y="4000500"/>
            <a:ext cx="1295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Apply</a:t>
            </a:r>
          </a:p>
        </p:txBody>
      </p:sp>
      <p:sp>
        <p:nvSpPr>
          <p:cNvPr id="19" name="journey-node-5">
            <a:extLst>
              <a:ext uri="{FF2B5EF4-FFF2-40B4-BE49-F238E27FC236}">
                <a16:creationId xmlns:a16="http://schemas.microsoft.com/office/drawing/2014/main" id="{DC56A72F-0692-46DF-9B29-B7C4B91C2E25}"/>
              </a:ext>
            </a:extLst>
          </p:cNvPr>
          <p:cNvSpPr>
            <a:spLocks noGrp="1"/>
          </p:cNvSpPr>
          <p:nvPr/>
        </p:nvSpPr>
        <p:spPr>
          <a:xfrm>
            <a:off x="9734550" y="2705100"/>
            <a:ext cx="1066800" cy="1066800"/>
          </a:xfrm>
          <a:prstGeom prst="ellipse">
            <a:avLst/>
          </a:prstGeom>
          <a:solidFill>
            <a:srgbClr val="172026"/>
          </a:solidFill>
          <a:ln w="0">
            <a:solidFill>
              <a:srgbClr val="172026"/>
            </a:solidFill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journey-label-5">
            <a:extLst>
              <a:ext uri="{FF2B5EF4-FFF2-40B4-BE49-F238E27FC236}">
                <a16:creationId xmlns:a16="http://schemas.microsoft.com/office/drawing/2014/main" id="{1A36DD21-4E81-429C-91D2-D38D49270CD2}"/>
              </a:ext>
            </a:extLst>
          </p:cNvPr>
          <p:cNvSpPr>
            <a:spLocks noGrp="1"/>
          </p:cNvSpPr>
          <p:nvPr/>
        </p:nvSpPr>
        <p:spPr>
          <a:xfrm>
            <a:off x="9620250" y="4000500"/>
            <a:ext cx="1295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Track status</a:t>
            </a:r>
          </a:p>
        </p:txBody>
      </p:sp>
      <p:sp>
        <p:nvSpPr>
          <p:cNvPr id="21" name="journey-claim">
            <a:extLst>
              <a:ext uri="{FF2B5EF4-FFF2-40B4-BE49-F238E27FC236}">
                <a16:creationId xmlns:a16="http://schemas.microsoft.com/office/drawing/2014/main" id="{7B419383-00E4-4FCD-AD73-9AB5581E45B7}"/>
              </a:ext>
            </a:extLst>
          </p:cNvPr>
          <p:cNvSpPr>
            <a:spLocks noGrp="1"/>
          </p:cNvSpPr>
          <p:nvPr/>
        </p:nvSpPr>
        <p:spPr>
          <a:xfrm>
            <a:off x="1371600" y="5143500"/>
            <a:ext cx="9448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72026"/>
                </a:solidFill>
              </a:defRPr>
            </a:pPr>
            <a:r>
              <a:rPr sz="2100" b="1">
                <a:solidFill>
                  <a:srgbClr val="172026"/>
                </a:solidFill>
              </a:rPr>
              <a:t>One profile update can recompute recommendations across all active listings.</a:t>
            </a:r>
          </a:p>
        </p:txBody>
      </p:sp>
      <p:sp>
        <p:nvSpPr>
          <p:cNvPr id="22" name="footer-rule">
            <a:extLst>
              <a:ext uri="{FF2B5EF4-FFF2-40B4-BE49-F238E27FC236}">
                <a16:creationId xmlns:a16="http://schemas.microsoft.com/office/drawing/2014/main" id="{D28CFC26-1A31-499C-91FF-D879312A9333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10820400" cy="9525"/>
          </a:xfrm>
          <a:prstGeom prst="rect">
            <a:avLst/>
          </a:prstGeom>
          <a:solidFill>
            <a:srgbClr val="D7DEE3"/>
          </a:solidFill>
          <a:ln w="0">
            <a:noFill/>
            <a:prstDash val="solid"/>
          </a:ln>
        </p:spPr>
      </p:sp>
      <p:sp>
        <p:nvSpPr>
          <p:cNvPr id="23" name="footer">
            <a:extLst>
              <a:ext uri="{FF2B5EF4-FFF2-40B4-BE49-F238E27FC236}">
                <a16:creationId xmlns:a16="http://schemas.microsoft.com/office/drawing/2014/main" id="{DD065144-216F-41DE-982D-BB6B488419C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3616D"/>
                </a:solidFill>
              </a:defRPr>
            </a:pPr>
            <a:r>
              <a:rPr sz="825" b="1">
                <a:solidFill>
                  <a:srgbClr val="53616D"/>
                </a:solidFill>
              </a:rPr>
              <a:t>CREDX  /  SMART JOB MATCHING DASHBOARD</a:t>
            </a:r>
          </a:p>
        </p:txBody>
      </p:sp>
    </p:spTree>
    <p:extLst>
      <p:ext uri="{BB962C8B-B14F-4D97-AF65-F5344CB8AC3E}">
        <p14:creationId xmlns:p14="http://schemas.microsoft.com/office/powerpoint/2010/main" val="1647178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kicker-8">
            <a:extLst>
              <a:ext uri="{FF2B5EF4-FFF2-40B4-BE49-F238E27FC236}">
                <a16:creationId xmlns:a16="http://schemas.microsoft.com/office/drawing/2014/main" id="{F0A3A85C-83B7-488A-938C-0C76FB4D249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E4512F"/>
                </a:solidFill>
              </a:defRPr>
            </a:pPr>
            <a:r>
              <a:rPr sz="1050" b="1">
                <a:solidFill>
                  <a:srgbClr val="E4512F"/>
                </a:solidFill>
              </a:rPr>
              <a:t>BONUS WORKFLOW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77F67CD7-42B5-4710-9ACA-748F36F0111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72026"/>
                </a:solidFill>
              </a:defRPr>
            </a:pPr>
            <a:r>
              <a:rPr sz="2850" b="1">
                <a:solidFill>
                  <a:srgbClr val="172026"/>
                </a:solidFill>
              </a:rPr>
              <a:t>Recruiters receive structured roles and clearer candidates</a:t>
            </a:r>
          </a:p>
        </p:txBody>
      </p:sp>
      <p:sp>
        <p:nvSpPr>
          <p:cNvPr id="3" name="page-8">
            <a:extLst>
              <a:ext uri="{FF2B5EF4-FFF2-40B4-BE49-F238E27FC236}">
                <a16:creationId xmlns:a16="http://schemas.microsoft.com/office/drawing/2014/main" id="{E0E44417-4C84-4357-8DA0-54D71F584FDB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3616D"/>
                </a:solidFill>
              </a:defRPr>
            </a:pPr>
            <a:r>
              <a:rPr sz="975" b="1">
                <a:solidFill>
                  <a:srgbClr val="53616D"/>
                </a:solidFill>
              </a:rPr>
              <a:t>08</a:t>
            </a:r>
          </a:p>
        </p:txBody>
      </p:sp>
      <p:sp>
        <p:nvSpPr>
          <p:cNvPr id="4" name="recruiter-left">
            <a:extLst>
              <a:ext uri="{FF2B5EF4-FFF2-40B4-BE49-F238E27FC236}">
                <a16:creationId xmlns:a16="http://schemas.microsoft.com/office/drawing/2014/main" id="{F7099B61-0DE0-4A7C-8841-626AC05A5C7F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4762500" cy="3714750"/>
          </a:xfrm>
          <a:prstGeom prst="roundRect">
            <a:avLst>
              <a:gd name="adj" fmla="val 4103"/>
            </a:avLst>
          </a:prstGeom>
          <a:solidFill>
            <a:srgbClr val="F7FAFC"/>
          </a:solidFill>
          <a:ln w="9525">
            <a:solidFill>
              <a:srgbClr val="D7DEE3"/>
            </a:solidFill>
            <a:prstDash val="solid"/>
          </a:ln>
        </p:spPr>
      </p:sp>
      <p:sp>
        <p:nvSpPr>
          <p:cNvPr id="5" name="recruiter-left-h">
            <a:extLst>
              <a:ext uri="{FF2B5EF4-FFF2-40B4-BE49-F238E27FC236}">
                <a16:creationId xmlns:a16="http://schemas.microsoft.com/office/drawing/2014/main" id="{7A22DE92-D9D9-400D-8190-5E1D61F05E04}"/>
              </a:ext>
            </a:extLst>
          </p:cNvPr>
          <p:cNvSpPr>
            <a:spLocks noGrp="1"/>
          </p:cNvSpPr>
          <p:nvPr/>
        </p:nvSpPr>
        <p:spPr>
          <a:xfrm>
            <a:off x="990600" y="2019300"/>
            <a:ext cx="361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2026"/>
                </a:solidFill>
              </a:defRPr>
            </a:pPr>
            <a:r>
              <a:rPr sz="2025" b="1">
                <a:solidFill>
                  <a:srgbClr val="172026"/>
                </a:solidFill>
              </a:rPr>
              <a:t>Publish a role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1EC6B8-F2F2-46BF-8376-2C022B4D0DC0}"/>
              </a:ext>
            </a:extLst>
          </p:cNvPr>
          <p:cNvSpPr>
            <a:spLocks noGrp="1"/>
          </p:cNvSpPr>
          <p:nvPr/>
        </p:nvSpPr>
        <p:spPr>
          <a:xfrm>
            <a:off x="1009650" y="2724150"/>
            <a:ext cx="133350" cy="133350"/>
          </a:xfrm>
          <a:prstGeom prst="ellipse">
            <a:avLst/>
          </a:prstGeom>
          <a:solidFill>
            <a:srgbClr val="E4512F"/>
          </a:solidFill>
          <a:ln w="0">
            <a:solidFill>
              <a:srgbClr val="E4512F"/>
            </a:solidFill>
            <a:prstDash val="solid"/>
          </a:ln>
        </p:spPr>
      </p:sp>
      <p:sp>
        <p:nvSpPr>
          <p:cNvPr id="7" name="req-0">
            <a:extLst>
              <a:ext uri="{FF2B5EF4-FFF2-40B4-BE49-F238E27FC236}">
                <a16:creationId xmlns:a16="http://schemas.microsoft.com/office/drawing/2014/main" id="{ACF45569-242F-4101-92CD-28FE6BFD0B21}"/>
              </a:ext>
            </a:extLst>
          </p:cNvPr>
          <p:cNvSpPr>
            <a:spLocks noGrp="1"/>
          </p:cNvSpPr>
          <p:nvPr/>
        </p:nvSpPr>
        <p:spPr>
          <a:xfrm>
            <a:off x="1295400" y="260985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3616D"/>
                </a:solidFill>
              </a:defRPr>
            </a:pPr>
            <a:r>
              <a:rPr sz="1425" b="0">
                <a:solidFill>
                  <a:srgbClr val="53616D"/>
                </a:solidFill>
              </a:rPr>
              <a:t>Required skills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5D8946A-8259-4CAF-BB00-4F8B9DE02F14}"/>
              </a:ext>
            </a:extLst>
          </p:cNvPr>
          <p:cNvSpPr>
            <a:spLocks noGrp="1"/>
          </p:cNvSpPr>
          <p:nvPr/>
        </p:nvSpPr>
        <p:spPr>
          <a:xfrm>
            <a:off x="1009650" y="3276600"/>
            <a:ext cx="133350" cy="133350"/>
          </a:xfrm>
          <a:prstGeom prst="ellipse">
            <a:avLst/>
          </a:prstGeom>
          <a:solidFill>
            <a:srgbClr val="E4512F"/>
          </a:solidFill>
          <a:ln w="0">
            <a:solidFill>
              <a:srgbClr val="E4512F"/>
            </a:solidFill>
            <a:prstDash val="solid"/>
          </a:ln>
        </p:spPr>
      </p:sp>
      <p:sp>
        <p:nvSpPr>
          <p:cNvPr id="9" name="req-1">
            <a:extLst>
              <a:ext uri="{FF2B5EF4-FFF2-40B4-BE49-F238E27FC236}">
                <a16:creationId xmlns:a16="http://schemas.microsoft.com/office/drawing/2014/main" id="{B0877FC8-7E7A-43CA-8283-C0EC5DB42014}"/>
              </a:ext>
            </a:extLst>
          </p:cNvPr>
          <p:cNvSpPr>
            <a:spLocks noGrp="1"/>
          </p:cNvSpPr>
          <p:nvPr/>
        </p:nvSpPr>
        <p:spPr>
          <a:xfrm>
            <a:off x="1295400" y="316230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3616D"/>
                </a:solidFill>
              </a:defRPr>
            </a:pPr>
            <a:r>
              <a:rPr sz="1425" b="0">
                <a:solidFill>
                  <a:srgbClr val="53616D"/>
                </a:solidFill>
              </a:rPr>
              <a:t>Minimum GPA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6F62090-A4BB-49C9-9ECC-D92E052FA32F}"/>
              </a:ext>
            </a:extLst>
          </p:cNvPr>
          <p:cNvSpPr>
            <a:spLocks noGrp="1"/>
          </p:cNvSpPr>
          <p:nvPr/>
        </p:nvSpPr>
        <p:spPr>
          <a:xfrm>
            <a:off x="1009650" y="3829050"/>
            <a:ext cx="133350" cy="133350"/>
          </a:xfrm>
          <a:prstGeom prst="ellipse">
            <a:avLst/>
          </a:prstGeom>
          <a:solidFill>
            <a:srgbClr val="E4512F"/>
          </a:solidFill>
          <a:ln w="0">
            <a:solidFill>
              <a:srgbClr val="E4512F"/>
            </a:solidFill>
            <a:prstDash val="solid"/>
          </a:ln>
        </p:spPr>
      </p:sp>
      <p:sp>
        <p:nvSpPr>
          <p:cNvPr id="11" name="req-2">
            <a:extLst>
              <a:ext uri="{FF2B5EF4-FFF2-40B4-BE49-F238E27FC236}">
                <a16:creationId xmlns:a16="http://schemas.microsoft.com/office/drawing/2014/main" id="{6010BE0C-837E-4D29-BB87-5278069DF12C}"/>
              </a:ext>
            </a:extLst>
          </p:cNvPr>
          <p:cNvSpPr>
            <a:spLocks noGrp="1"/>
          </p:cNvSpPr>
          <p:nvPr/>
        </p:nvSpPr>
        <p:spPr>
          <a:xfrm>
            <a:off x="1295400" y="371475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3616D"/>
                </a:solidFill>
              </a:defRPr>
            </a:pPr>
            <a:r>
              <a:rPr sz="1425" b="0">
                <a:solidFill>
                  <a:srgbClr val="53616D"/>
                </a:solidFill>
              </a:rPr>
              <a:t>Location + work mode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47C0F7D-F83B-4AD2-8E57-1CA8AC40C08D}"/>
              </a:ext>
            </a:extLst>
          </p:cNvPr>
          <p:cNvSpPr>
            <a:spLocks noGrp="1"/>
          </p:cNvSpPr>
          <p:nvPr/>
        </p:nvSpPr>
        <p:spPr>
          <a:xfrm>
            <a:off x="1009650" y="4381500"/>
            <a:ext cx="133350" cy="133350"/>
          </a:xfrm>
          <a:prstGeom prst="ellipse">
            <a:avLst/>
          </a:prstGeom>
          <a:solidFill>
            <a:srgbClr val="E4512F"/>
          </a:solidFill>
          <a:ln w="0">
            <a:solidFill>
              <a:srgbClr val="E4512F"/>
            </a:solidFill>
            <a:prstDash val="solid"/>
          </a:ln>
        </p:spPr>
      </p:sp>
      <p:sp>
        <p:nvSpPr>
          <p:cNvPr id="13" name="req-3">
            <a:extLst>
              <a:ext uri="{FF2B5EF4-FFF2-40B4-BE49-F238E27FC236}">
                <a16:creationId xmlns:a16="http://schemas.microsoft.com/office/drawing/2014/main" id="{E4B4D32E-3BDC-4BC9-8EB0-659C02DF1500}"/>
              </a:ext>
            </a:extLst>
          </p:cNvPr>
          <p:cNvSpPr>
            <a:spLocks noGrp="1"/>
          </p:cNvSpPr>
          <p:nvPr/>
        </p:nvSpPr>
        <p:spPr>
          <a:xfrm>
            <a:off x="1295400" y="426720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3616D"/>
                </a:solidFill>
              </a:defRPr>
            </a:pPr>
            <a:r>
              <a:rPr sz="1425" b="0">
                <a:solidFill>
                  <a:srgbClr val="53616D"/>
                </a:solidFill>
              </a:rPr>
              <a:t>Sponsorship availability</a:t>
            </a:r>
          </a:p>
        </p:txBody>
      </p:sp>
      <p:sp>
        <p:nvSpPr>
          <p:cNvPr id="14" name="recruiter-arrow">
            <a:extLst>
              <a:ext uri="{FF2B5EF4-FFF2-40B4-BE49-F238E27FC236}">
                <a16:creationId xmlns:a16="http://schemas.microsoft.com/office/drawing/2014/main" id="{E3C41E97-28FD-4F36-8E38-AB2C1F4FB836}"/>
              </a:ext>
            </a:extLst>
          </p:cNvPr>
          <p:cNvSpPr>
            <a:spLocks noGrp="1"/>
          </p:cNvSpPr>
          <p:nvPr/>
        </p:nvSpPr>
        <p:spPr>
          <a:xfrm>
            <a:off x="5619750" y="3429000"/>
            <a:ext cx="781050" cy="190500"/>
          </a:xfrm>
          <a:prstGeom prst="rightArrow">
            <a:avLst/>
          </a:prstGeom>
          <a:solidFill>
            <a:srgbClr val="E4512F"/>
          </a:solidFill>
          <a:ln w="0">
            <a:solidFill>
              <a:srgbClr val="E4512F"/>
            </a:solidFill>
            <a:prstDash val="solid"/>
          </a:ln>
        </p:spPr>
      </p:sp>
      <p:sp>
        <p:nvSpPr>
          <p:cNvPr id="15" name="recruiter-right">
            <a:extLst>
              <a:ext uri="{FF2B5EF4-FFF2-40B4-BE49-F238E27FC236}">
                <a16:creationId xmlns:a16="http://schemas.microsoft.com/office/drawing/2014/main" id="{F7907F50-12E1-4E1C-8AB3-CCE0BA9842B5}"/>
              </a:ext>
            </a:extLst>
          </p:cNvPr>
          <p:cNvSpPr>
            <a:spLocks noGrp="1"/>
          </p:cNvSpPr>
          <p:nvPr/>
        </p:nvSpPr>
        <p:spPr>
          <a:xfrm>
            <a:off x="6572250" y="1752600"/>
            <a:ext cx="4933950" cy="3714750"/>
          </a:xfrm>
          <a:prstGeom prst="roundRect">
            <a:avLst>
              <a:gd name="adj" fmla="val 4103"/>
            </a:avLst>
          </a:prstGeom>
          <a:solidFill>
            <a:srgbClr val="EAF8EE"/>
          </a:solidFill>
          <a:ln w="9525">
            <a:solidFill>
              <a:srgbClr val="EAF8EE"/>
            </a:solidFill>
            <a:prstDash val="solid"/>
          </a:ln>
        </p:spPr>
      </p:sp>
      <p:sp>
        <p:nvSpPr>
          <p:cNvPr id="16" name="recruiter-right-h">
            <a:extLst>
              <a:ext uri="{FF2B5EF4-FFF2-40B4-BE49-F238E27FC236}">
                <a16:creationId xmlns:a16="http://schemas.microsoft.com/office/drawing/2014/main" id="{D836FEB1-F296-464E-818E-F7EDC17BE4CA}"/>
              </a:ext>
            </a:extLst>
          </p:cNvPr>
          <p:cNvSpPr>
            <a:spLocks noGrp="1"/>
          </p:cNvSpPr>
          <p:nvPr/>
        </p:nvSpPr>
        <p:spPr>
          <a:xfrm>
            <a:off x="6877050" y="20193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2026"/>
                </a:solidFill>
              </a:defRPr>
            </a:pPr>
            <a:r>
              <a:rPr sz="2025" b="1">
                <a:solidFill>
                  <a:srgbClr val="172026"/>
                </a:solidFill>
              </a:rPr>
              <a:t>Review a ranked pipeline</a:t>
            </a:r>
          </a:p>
        </p:txBody>
      </p:sp>
      <p:sp>
        <p:nvSpPr>
          <p:cNvPr id="17" name="candidate-0">
            <a:extLst>
              <a:ext uri="{FF2B5EF4-FFF2-40B4-BE49-F238E27FC236}">
                <a16:creationId xmlns:a16="http://schemas.microsoft.com/office/drawing/2014/main" id="{70EB07CD-3334-4112-BFF0-4C3507E0640A}"/>
              </a:ext>
            </a:extLst>
          </p:cNvPr>
          <p:cNvSpPr>
            <a:spLocks noGrp="1"/>
          </p:cNvSpPr>
          <p:nvPr/>
        </p:nvSpPr>
        <p:spPr>
          <a:xfrm>
            <a:off x="6877050" y="2686050"/>
            <a:ext cx="42862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candidate-n-0">
            <a:extLst>
              <a:ext uri="{FF2B5EF4-FFF2-40B4-BE49-F238E27FC236}">
                <a16:creationId xmlns:a16="http://schemas.microsoft.com/office/drawing/2014/main" id="{E966634E-B258-4FCB-AE7C-01F014790C7C}"/>
              </a:ext>
            </a:extLst>
          </p:cNvPr>
          <p:cNvSpPr>
            <a:spLocks noGrp="1"/>
          </p:cNvSpPr>
          <p:nvPr/>
        </p:nvSpPr>
        <p:spPr>
          <a:xfrm>
            <a:off x="7067550" y="27717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Aarav Sharma</a:t>
            </a:r>
          </a:p>
        </p:txBody>
      </p:sp>
      <p:sp>
        <p:nvSpPr>
          <p:cNvPr id="19" name="candidate-p-0">
            <a:extLst>
              <a:ext uri="{FF2B5EF4-FFF2-40B4-BE49-F238E27FC236}">
                <a16:creationId xmlns:a16="http://schemas.microsoft.com/office/drawing/2014/main" id="{7433FC39-6667-47BD-9DAE-4A7B49A5C8C7}"/>
              </a:ext>
            </a:extLst>
          </p:cNvPr>
          <p:cNvSpPr>
            <a:spLocks noGrp="1"/>
          </p:cNvSpPr>
          <p:nvPr/>
        </p:nvSpPr>
        <p:spPr>
          <a:xfrm>
            <a:off x="9810750" y="277177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650" b="1">
                <a:solidFill>
                  <a:srgbClr val="2E9D57"/>
                </a:solidFill>
              </a:defRPr>
            </a:pPr>
            <a:r>
              <a:rPr sz="1650" b="1">
                <a:solidFill>
                  <a:srgbClr val="2E9D57"/>
                </a:solidFill>
              </a:rPr>
              <a:t>91%</a:t>
            </a:r>
          </a:p>
        </p:txBody>
      </p:sp>
      <p:sp>
        <p:nvSpPr>
          <p:cNvPr id="20" name="candidate-1">
            <a:extLst>
              <a:ext uri="{FF2B5EF4-FFF2-40B4-BE49-F238E27FC236}">
                <a16:creationId xmlns:a16="http://schemas.microsoft.com/office/drawing/2014/main" id="{2510BBB9-2B62-47F7-A6E7-44BE377D454A}"/>
              </a:ext>
            </a:extLst>
          </p:cNvPr>
          <p:cNvSpPr>
            <a:spLocks noGrp="1"/>
          </p:cNvSpPr>
          <p:nvPr/>
        </p:nvSpPr>
        <p:spPr>
          <a:xfrm>
            <a:off x="6877050" y="3409950"/>
            <a:ext cx="42862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candidate-n-1">
            <a:extLst>
              <a:ext uri="{FF2B5EF4-FFF2-40B4-BE49-F238E27FC236}">
                <a16:creationId xmlns:a16="http://schemas.microsoft.com/office/drawing/2014/main" id="{D85E1AC7-63EE-4974-BBD2-5EFFB5743BAA}"/>
              </a:ext>
            </a:extLst>
          </p:cNvPr>
          <p:cNvSpPr>
            <a:spLocks noGrp="1"/>
          </p:cNvSpPr>
          <p:nvPr/>
        </p:nvSpPr>
        <p:spPr>
          <a:xfrm>
            <a:off x="7067550" y="34956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Maya Singh</a:t>
            </a:r>
          </a:p>
        </p:txBody>
      </p:sp>
      <p:sp>
        <p:nvSpPr>
          <p:cNvPr id="22" name="candidate-p-1">
            <a:extLst>
              <a:ext uri="{FF2B5EF4-FFF2-40B4-BE49-F238E27FC236}">
                <a16:creationId xmlns:a16="http://schemas.microsoft.com/office/drawing/2014/main" id="{6945651E-6BD1-4A96-B028-3A43E006A847}"/>
              </a:ext>
            </a:extLst>
          </p:cNvPr>
          <p:cNvSpPr>
            <a:spLocks noGrp="1"/>
          </p:cNvSpPr>
          <p:nvPr/>
        </p:nvSpPr>
        <p:spPr>
          <a:xfrm>
            <a:off x="9810750" y="349567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650" b="1">
                <a:solidFill>
                  <a:srgbClr val="3DADFF"/>
                </a:solidFill>
              </a:defRPr>
            </a:pPr>
            <a:r>
              <a:rPr sz="1650" b="1">
                <a:solidFill>
                  <a:srgbClr val="3DADFF"/>
                </a:solidFill>
              </a:rPr>
              <a:t>78%</a:t>
            </a:r>
          </a:p>
        </p:txBody>
      </p:sp>
      <p:sp>
        <p:nvSpPr>
          <p:cNvPr id="23" name="candidate-2">
            <a:extLst>
              <a:ext uri="{FF2B5EF4-FFF2-40B4-BE49-F238E27FC236}">
                <a16:creationId xmlns:a16="http://schemas.microsoft.com/office/drawing/2014/main" id="{77C21510-E8B8-47F4-8A8A-FD2FD26D0EFE}"/>
              </a:ext>
            </a:extLst>
          </p:cNvPr>
          <p:cNvSpPr>
            <a:spLocks noGrp="1"/>
          </p:cNvSpPr>
          <p:nvPr/>
        </p:nvSpPr>
        <p:spPr>
          <a:xfrm>
            <a:off x="6877050" y="4133850"/>
            <a:ext cx="42862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candidate-n-2">
            <a:extLst>
              <a:ext uri="{FF2B5EF4-FFF2-40B4-BE49-F238E27FC236}">
                <a16:creationId xmlns:a16="http://schemas.microsoft.com/office/drawing/2014/main" id="{4AAEDFC0-1D54-4CB5-B906-F55F091EA8A8}"/>
              </a:ext>
            </a:extLst>
          </p:cNvPr>
          <p:cNvSpPr>
            <a:spLocks noGrp="1"/>
          </p:cNvSpPr>
          <p:nvPr/>
        </p:nvSpPr>
        <p:spPr>
          <a:xfrm>
            <a:off x="7067550" y="42195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Rohan Mehta</a:t>
            </a:r>
          </a:p>
        </p:txBody>
      </p:sp>
      <p:sp>
        <p:nvSpPr>
          <p:cNvPr id="25" name="candidate-p-2">
            <a:extLst>
              <a:ext uri="{FF2B5EF4-FFF2-40B4-BE49-F238E27FC236}">
                <a16:creationId xmlns:a16="http://schemas.microsoft.com/office/drawing/2014/main" id="{F2ABC51E-E915-4675-9CF0-536D43A4C875}"/>
              </a:ext>
            </a:extLst>
          </p:cNvPr>
          <p:cNvSpPr>
            <a:spLocks noGrp="1"/>
          </p:cNvSpPr>
          <p:nvPr/>
        </p:nvSpPr>
        <p:spPr>
          <a:xfrm>
            <a:off x="9810750" y="421957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650" b="1">
                <a:solidFill>
                  <a:srgbClr val="874FFF"/>
                </a:solidFill>
              </a:defRPr>
            </a:pPr>
            <a:r>
              <a:rPr sz="1650" b="1">
                <a:solidFill>
                  <a:srgbClr val="874FFF"/>
                </a:solidFill>
              </a:rPr>
              <a:t>64%</a:t>
            </a:r>
          </a:p>
        </p:txBody>
      </p:sp>
      <p:sp>
        <p:nvSpPr>
          <p:cNvPr id="26" name="recruiter-bottom">
            <a:extLst>
              <a:ext uri="{FF2B5EF4-FFF2-40B4-BE49-F238E27FC236}">
                <a16:creationId xmlns:a16="http://schemas.microsoft.com/office/drawing/2014/main" id="{BB97153D-8493-4013-A0A5-368E5ADC53C9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2026"/>
                </a:solidFill>
              </a:defRPr>
            </a:pPr>
            <a:r>
              <a:rPr sz="1650" b="1">
                <a:solidFill>
                  <a:srgbClr val="172026"/>
                </a:solidFill>
              </a:rPr>
              <a:t>Application status stays visible to both sides.</a:t>
            </a:r>
          </a:p>
        </p:txBody>
      </p:sp>
      <p:sp>
        <p:nvSpPr>
          <p:cNvPr id="27" name="footer-rule">
            <a:extLst>
              <a:ext uri="{FF2B5EF4-FFF2-40B4-BE49-F238E27FC236}">
                <a16:creationId xmlns:a16="http://schemas.microsoft.com/office/drawing/2014/main" id="{620AC92F-3884-4E83-BA73-CA3B25A3D059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10820400" cy="9525"/>
          </a:xfrm>
          <a:prstGeom prst="rect">
            <a:avLst/>
          </a:prstGeom>
          <a:solidFill>
            <a:srgbClr val="D7DEE3"/>
          </a:solidFill>
          <a:ln w="0">
            <a:noFill/>
            <a:prstDash val="solid"/>
          </a:ln>
        </p:spPr>
      </p:sp>
      <p:sp>
        <p:nvSpPr>
          <p:cNvPr id="28" name="footer">
            <a:extLst>
              <a:ext uri="{FF2B5EF4-FFF2-40B4-BE49-F238E27FC236}">
                <a16:creationId xmlns:a16="http://schemas.microsoft.com/office/drawing/2014/main" id="{E39984F6-B9E4-4993-B673-2ED76538AC2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3616D"/>
                </a:solidFill>
              </a:defRPr>
            </a:pPr>
            <a:r>
              <a:rPr sz="825" b="1">
                <a:solidFill>
                  <a:srgbClr val="53616D"/>
                </a:solidFill>
              </a:rPr>
              <a:t>CREDX  /  SMART JOB MATCHING DASHBOARD</a:t>
            </a:r>
          </a:p>
        </p:txBody>
      </p:sp>
    </p:spTree>
    <p:extLst>
      <p:ext uri="{BB962C8B-B14F-4D97-AF65-F5344CB8AC3E}">
        <p14:creationId xmlns:p14="http://schemas.microsoft.com/office/powerpoint/2010/main" val="1163367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kicker-9">
            <a:extLst>
              <a:ext uri="{FF2B5EF4-FFF2-40B4-BE49-F238E27FC236}">
                <a16:creationId xmlns:a16="http://schemas.microsoft.com/office/drawing/2014/main" id="{876549C1-A2A4-4665-B446-1F5CCBAA364B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E4512F"/>
                </a:solidFill>
              </a:defRPr>
            </a:pPr>
            <a:r>
              <a:rPr sz="1050" b="1">
                <a:solidFill>
                  <a:srgbClr val="E4512F"/>
                </a:solidFill>
              </a:rPr>
              <a:t>SYSTEM DESIGN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7EA0CE97-11EA-4297-84AF-6A1CE2899011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72026"/>
                </a:solidFill>
              </a:defRPr>
            </a:pPr>
            <a:r>
              <a:rPr sz="2850" b="1">
                <a:solidFill>
                  <a:srgbClr val="172026"/>
                </a:solidFill>
              </a:rPr>
              <a:t>A modular full-stack architecture keeps the system practical</a:t>
            </a:r>
          </a:p>
        </p:txBody>
      </p:sp>
      <p:sp>
        <p:nvSpPr>
          <p:cNvPr id="3" name="page-9">
            <a:extLst>
              <a:ext uri="{FF2B5EF4-FFF2-40B4-BE49-F238E27FC236}">
                <a16:creationId xmlns:a16="http://schemas.microsoft.com/office/drawing/2014/main" id="{3831428E-7921-4FA7-BB11-E2FFA3D294E1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3616D"/>
                </a:solidFill>
              </a:defRPr>
            </a:pPr>
            <a:r>
              <a:rPr sz="975" b="1">
                <a:solidFill>
                  <a:srgbClr val="53616D"/>
                </a:solidFill>
              </a:rPr>
              <a:t>09</a:t>
            </a:r>
          </a:p>
        </p:txBody>
      </p:sp>
      <p:sp>
        <p:nvSpPr>
          <p:cNvPr id="4" name="arch-a1">
            <a:extLst>
              <a:ext uri="{FF2B5EF4-FFF2-40B4-BE49-F238E27FC236}">
                <a16:creationId xmlns:a16="http://schemas.microsoft.com/office/drawing/2014/main" id="{762EEE83-704B-494D-9E54-8A4AA35DA25D}"/>
              </a:ext>
            </a:extLst>
          </p:cNvPr>
          <p:cNvSpPr>
            <a:spLocks noGrp="1"/>
          </p:cNvSpPr>
          <p:nvPr/>
        </p:nvSpPr>
        <p:spPr>
          <a:xfrm>
            <a:off x="2571750" y="3190875"/>
            <a:ext cx="666750" cy="190500"/>
          </a:xfrm>
          <a:prstGeom prst="rightArrow">
            <a:avLst/>
          </a:prstGeom>
          <a:solidFill>
            <a:srgbClr val="53616D"/>
          </a:solidFill>
          <a:ln w="0">
            <a:solidFill>
              <a:srgbClr val="53616D"/>
            </a:solidFill>
            <a:prstDash val="solid"/>
          </a:ln>
        </p:spPr>
      </p:sp>
      <p:sp>
        <p:nvSpPr>
          <p:cNvPr id="5" name="arch-a2">
            <a:extLst>
              <a:ext uri="{FF2B5EF4-FFF2-40B4-BE49-F238E27FC236}">
                <a16:creationId xmlns:a16="http://schemas.microsoft.com/office/drawing/2014/main" id="{9FCA9868-B750-4C89-8011-0496EE9A7CCF}"/>
              </a:ext>
            </a:extLst>
          </p:cNvPr>
          <p:cNvSpPr>
            <a:spLocks noGrp="1"/>
          </p:cNvSpPr>
          <p:nvPr/>
        </p:nvSpPr>
        <p:spPr>
          <a:xfrm>
            <a:off x="5572125" y="3190875"/>
            <a:ext cx="666750" cy="190500"/>
          </a:xfrm>
          <a:prstGeom prst="rightArrow">
            <a:avLst/>
          </a:prstGeom>
          <a:solidFill>
            <a:srgbClr val="53616D"/>
          </a:solidFill>
          <a:ln w="0">
            <a:solidFill>
              <a:srgbClr val="53616D"/>
            </a:solidFill>
            <a:prstDash val="solid"/>
          </a:ln>
        </p:spPr>
      </p:sp>
      <p:sp>
        <p:nvSpPr>
          <p:cNvPr id="6" name="arch-a3">
            <a:extLst>
              <a:ext uri="{FF2B5EF4-FFF2-40B4-BE49-F238E27FC236}">
                <a16:creationId xmlns:a16="http://schemas.microsoft.com/office/drawing/2014/main" id="{3FC80070-F3F8-47BD-AEDF-DD5871AB3CD4}"/>
              </a:ext>
            </a:extLst>
          </p:cNvPr>
          <p:cNvSpPr>
            <a:spLocks noGrp="1"/>
          </p:cNvSpPr>
          <p:nvPr/>
        </p:nvSpPr>
        <p:spPr>
          <a:xfrm>
            <a:off x="8572500" y="3190875"/>
            <a:ext cx="666750" cy="190500"/>
          </a:xfrm>
          <a:prstGeom prst="rightArrow">
            <a:avLst/>
          </a:prstGeom>
          <a:solidFill>
            <a:srgbClr val="53616D"/>
          </a:solidFill>
          <a:ln w="0">
            <a:solidFill>
              <a:srgbClr val="53616D"/>
            </a:solidFill>
            <a:prstDash val="solid"/>
          </a:ln>
        </p:spPr>
      </p:sp>
      <p:sp>
        <p:nvSpPr>
          <p:cNvPr id="7" name="arch-node-0">
            <a:extLst>
              <a:ext uri="{FF2B5EF4-FFF2-40B4-BE49-F238E27FC236}">
                <a16:creationId xmlns:a16="http://schemas.microsoft.com/office/drawing/2014/main" id="{C0906F6F-D7C7-4D91-815B-BE4807590BDF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2266950" cy="1809750"/>
          </a:xfrm>
          <a:prstGeom prst="roundRect">
            <a:avLst>
              <a:gd name="adj" fmla="val 8421"/>
            </a:avLst>
          </a:prstGeom>
          <a:solidFill>
            <a:srgbClr val="EAF5FF"/>
          </a:solidFill>
          <a:ln w="9525">
            <a:solidFill>
              <a:srgbClr val="3DADFF"/>
            </a:solidFill>
            <a:prstDash val="solid"/>
          </a:ln>
        </p:spPr>
      </p:sp>
      <p:sp>
        <p:nvSpPr>
          <p:cNvPr id="8" name="arch-h-0">
            <a:extLst>
              <a:ext uri="{FF2B5EF4-FFF2-40B4-BE49-F238E27FC236}">
                <a16:creationId xmlns:a16="http://schemas.microsoft.com/office/drawing/2014/main" id="{904B13EA-C3EF-4E5B-949A-78C8A06387B8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72026"/>
                </a:solidFill>
              </a:defRPr>
            </a:pPr>
            <a:r>
              <a:rPr sz="1725" b="1">
                <a:solidFill>
                  <a:srgbClr val="172026"/>
                </a:solidFill>
              </a:rPr>
              <a:t>Students + recruiters</a:t>
            </a:r>
          </a:p>
        </p:txBody>
      </p:sp>
      <p:sp>
        <p:nvSpPr>
          <p:cNvPr id="9" name="arch-b-0">
            <a:extLst>
              <a:ext uri="{FF2B5EF4-FFF2-40B4-BE49-F238E27FC236}">
                <a16:creationId xmlns:a16="http://schemas.microsoft.com/office/drawing/2014/main" id="{B3983152-671B-4FF0-94C9-38DCCC7645AA}"/>
              </a:ext>
            </a:extLst>
          </p:cNvPr>
          <p:cNvSpPr>
            <a:spLocks noGrp="1"/>
          </p:cNvSpPr>
          <p:nvPr/>
        </p:nvSpPr>
        <p:spPr>
          <a:xfrm>
            <a:off x="876300" y="3238500"/>
            <a:ext cx="188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Browser experience</a:t>
            </a:r>
          </a:p>
        </p:txBody>
      </p:sp>
      <p:sp>
        <p:nvSpPr>
          <p:cNvPr id="10" name="arch-node-1">
            <a:extLst>
              <a:ext uri="{FF2B5EF4-FFF2-40B4-BE49-F238E27FC236}">
                <a16:creationId xmlns:a16="http://schemas.microsoft.com/office/drawing/2014/main" id="{7B052851-4663-4E2A-B7C1-F49E271ED1D2}"/>
              </a:ext>
            </a:extLst>
          </p:cNvPr>
          <p:cNvSpPr>
            <a:spLocks noGrp="1"/>
          </p:cNvSpPr>
          <p:nvPr/>
        </p:nvSpPr>
        <p:spPr>
          <a:xfrm>
            <a:off x="3238500" y="2400300"/>
            <a:ext cx="2266950" cy="1809750"/>
          </a:xfrm>
          <a:prstGeom prst="roundRect">
            <a:avLst>
              <a:gd name="adj" fmla="val 8421"/>
            </a:avLst>
          </a:prstGeom>
          <a:solidFill>
            <a:srgbClr val="FFF0EA"/>
          </a:solidFill>
          <a:ln w="9525">
            <a:solidFill>
              <a:srgbClr val="E4512F"/>
            </a:solidFill>
            <a:prstDash val="solid"/>
          </a:ln>
        </p:spPr>
      </p:sp>
      <p:sp>
        <p:nvSpPr>
          <p:cNvPr id="11" name="arch-h-1">
            <a:extLst>
              <a:ext uri="{FF2B5EF4-FFF2-40B4-BE49-F238E27FC236}">
                <a16:creationId xmlns:a16="http://schemas.microsoft.com/office/drawing/2014/main" id="{426E1C91-94CF-4C46-ABDB-5439CCC36BDF}"/>
              </a:ext>
            </a:extLst>
          </p:cNvPr>
          <p:cNvSpPr>
            <a:spLocks noGrp="1"/>
          </p:cNvSpPr>
          <p:nvPr/>
        </p:nvSpPr>
        <p:spPr>
          <a:xfrm>
            <a:off x="3429000" y="266700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72026"/>
                </a:solidFill>
              </a:defRPr>
            </a:pPr>
            <a:r>
              <a:rPr sz="1725" b="1">
                <a:solidFill>
                  <a:srgbClr val="172026"/>
                </a:solidFill>
              </a:rPr>
              <a:t>Next.js 16</a:t>
            </a:r>
          </a:p>
        </p:txBody>
      </p:sp>
      <p:sp>
        <p:nvSpPr>
          <p:cNvPr id="12" name="arch-b-1">
            <a:extLst>
              <a:ext uri="{FF2B5EF4-FFF2-40B4-BE49-F238E27FC236}">
                <a16:creationId xmlns:a16="http://schemas.microsoft.com/office/drawing/2014/main" id="{C9481F5A-A779-4397-872C-A312B159B1AB}"/>
              </a:ext>
            </a:extLst>
          </p:cNvPr>
          <p:cNvSpPr>
            <a:spLocks noGrp="1"/>
          </p:cNvSpPr>
          <p:nvPr/>
        </p:nvSpPr>
        <p:spPr>
          <a:xfrm>
            <a:off x="3429000" y="3238500"/>
            <a:ext cx="188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Pages, proxy and APIs</a:t>
            </a:r>
          </a:p>
        </p:txBody>
      </p:sp>
      <p:sp>
        <p:nvSpPr>
          <p:cNvPr id="13" name="arch-node-2">
            <a:extLst>
              <a:ext uri="{FF2B5EF4-FFF2-40B4-BE49-F238E27FC236}">
                <a16:creationId xmlns:a16="http://schemas.microsoft.com/office/drawing/2014/main" id="{AC230C54-B841-4581-8646-DEBB26B90C34}"/>
              </a:ext>
            </a:extLst>
          </p:cNvPr>
          <p:cNvSpPr>
            <a:spLocks noGrp="1"/>
          </p:cNvSpPr>
          <p:nvPr/>
        </p:nvSpPr>
        <p:spPr>
          <a:xfrm>
            <a:off x="6238875" y="2400300"/>
            <a:ext cx="2266950" cy="1809750"/>
          </a:xfrm>
          <a:prstGeom prst="roundRect">
            <a:avLst>
              <a:gd name="adj" fmla="val 8421"/>
            </a:avLst>
          </a:prstGeom>
          <a:solidFill>
            <a:srgbClr val="F1ECFF"/>
          </a:solidFill>
          <a:ln w="9525">
            <a:solidFill>
              <a:srgbClr val="874FFF"/>
            </a:solidFill>
            <a:prstDash val="solid"/>
          </a:ln>
        </p:spPr>
      </p:sp>
      <p:sp>
        <p:nvSpPr>
          <p:cNvPr id="14" name="arch-h-2">
            <a:extLst>
              <a:ext uri="{FF2B5EF4-FFF2-40B4-BE49-F238E27FC236}">
                <a16:creationId xmlns:a16="http://schemas.microsoft.com/office/drawing/2014/main" id="{A6397E25-E561-4A0D-A6A9-2EB39EFDF5D5}"/>
              </a:ext>
            </a:extLst>
          </p:cNvPr>
          <p:cNvSpPr>
            <a:spLocks noGrp="1"/>
          </p:cNvSpPr>
          <p:nvPr/>
        </p:nvSpPr>
        <p:spPr>
          <a:xfrm>
            <a:off x="6429375" y="266700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72026"/>
                </a:solidFill>
              </a:defRPr>
            </a:pPr>
            <a:r>
              <a:rPr sz="1725" b="1">
                <a:solidFill>
                  <a:srgbClr val="172026"/>
                </a:solidFill>
              </a:rPr>
              <a:t>CredX runtime</a:t>
            </a:r>
          </a:p>
        </p:txBody>
      </p:sp>
      <p:sp>
        <p:nvSpPr>
          <p:cNvPr id="15" name="arch-b-2">
            <a:extLst>
              <a:ext uri="{FF2B5EF4-FFF2-40B4-BE49-F238E27FC236}">
                <a16:creationId xmlns:a16="http://schemas.microsoft.com/office/drawing/2014/main" id="{2836F876-E4BC-44C8-95B6-BF5C19C32E4D}"/>
              </a:ext>
            </a:extLst>
          </p:cNvPr>
          <p:cNvSpPr>
            <a:spLocks noGrp="1"/>
          </p:cNvSpPr>
          <p:nvPr/>
        </p:nvSpPr>
        <p:spPr>
          <a:xfrm>
            <a:off x="6429375" y="3238500"/>
            <a:ext cx="188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Auth, matching and workflows</a:t>
            </a:r>
          </a:p>
        </p:txBody>
      </p:sp>
      <p:sp>
        <p:nvSpPr>
          <p:cNvPr id="16" name="arch-node-3">
            <a:extLst>
              <a:ext uri="{FF2B5EF4-FFF2-40B4-BE49-F238E27FC236}">
                <a16:creationId xmlns:a16="http://schemas.microsoft.com/office/drawing/2014/main" id="{C1DADAB7-E73E-4504-A3AA-9A37FA24C1DD}"/>
              </a:ext>
            </a:extLst>
          </p:cNvPr>
          <p:cNvSpPr>
            <a:spLocks noGrp="1"/>
          </p:cNvSpPr>
          <p:nvPr/>
        </p:nvSpPr>
        <p:spPr>
          <a:xfrm>
            <a:off x="9239250" y="2400300"/>
            <a:ext cx="2266950" cy="1809750"/>
          </a:xfrm>
          <a:prstGeom prst="roundRect">
            <a:avLst>
              <a:gd name="adj" fmla="val 8421"/>
            </a:avLst>
          </a:prstGeom>
          <a:solidFill>
            <a:srgbClr val="EAF8EE"/>
          </a:solidFill>
          <a:ln w="9525">
            <a:solidFill>
              <a:srgbClr val="2E9D57"/>
            </a:solidFill>
            <a:prstDash val="solid"/>
          </a:ln>
        </p:spPr>
      </p:sp>
      <p:sp>
        <p:nvSpPr>
          <p:cNvPr id="17" name="arch-h-3">
            <a:extLst>
              <a:ext uri="{FF2B5EF4-FFF2-40B4-BE49-F238E27FC236}">
                <a16:creationId xmlns:a16="http://schemas.microsoft.com/office/drawing/2014/main" id="{813BFC1D-43B0-4C14-9D9C-15BD21790DDB}"/>
              </a:ext>
            </a:extLst>
          </p:cNvPr>
          <p:cNvSpPr>
            <a:spLocks noGrp="1"/>
          </p:cNvSpPr>
          <p:nvPr/>
        </p:nvSpPr>
        <p:spPr>
          <a:xfrm>
            <a:off x="9429750" y="266700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72026"/>
                </a:solidFill>
              </a:defRPr>
            </a:pPr>
            <a:r>
              <a:rPr sz="1725" b="1">
                <a:solidFill>
                  <a:srgbClr val="172026"/>
                </a:solidFill>
              </a:rPr>
              <a:t>MongoDB</a:t>
            </a:r>
          </a:p>
        </p:txBody>
      </p:sp>
      <p:sp>
        <p:nvSpPr>
          <p:cNvPr id="18" name="arch-b-3">
            <a:extLst>
              <a:ext uri="{FF2B5EF4-FFF2-40B4-BE49-F238E27FC236}">
                <a16:creationId xmlns:a16="http://schemas.microsoft.com/office/drawing/2014/main" id="{CBB06065-CE36-466A-8B45-74B89C5B53D3}"/>
              </a:ext>
            </a:extLst>
          </p:cNvPr>
          <p:cNvSpPr>
            <a:spLocks noGrp="1"/>
          </p:cNvSpPr>
          <p:nvPr/>
        </p:nvSpPr>
        <p:spPr>
          <a:xfrm>
            <a:off x="9429750" y="3238500"/>
            <a:ext cx="188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3616D"/>
                </a:solidFill>
              </a:defRPr>
            </a:pPr>
            <a:r>
              <a:rPr sz="1275" b="0">
                <a:solidFill>
                  <a:srgbClr val="53616D"/>
                </a:solidFill>
              </a:rPr>
              <a:t>Profiles, listings, matches and applications</a:t>
            </a:r>
          </a:p>
        </p:txBody>
      </p:sp>
      <p:sp>
        <p:nvSpPr>
          <p:cNvPr id="19" name="pill-Google OAuth">
            <a:extLst>
              <a:ext uri="{FF2B5EF4-FFF2-40B4-BE49-F238E27FC236}">
                <a16:creationId xmlns:a16="http://schemas.microsoft.com/office/drawing/2014/main" id="{1A993514-F689-45C3-8192-2BFDE8FD04B3}"/>
              </a:ext>
            </a:extLst>
          </p:cNvPr>
          <p:cNvSpPr>
            <a:spLocks noGrp="1"/>
          </p:cNvSpPr>
          <p:nvPr/>
        </p:nvSpPr>
        <p:spPr>
          <a:xfrm>
            <a:off x="3143250" y="48577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5FF"/>
          </a:solidFill>
          <a:ln w="9525">
            <a:solidFill>
              <a:srgbClr val="EAF5FF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3DADFF"/>
                </a:solidFill>
              </a:defRPr>
            </a:pPr>
            <a:r>
              <a:rPr sz="1200" b="1">
                <a:solidFill>
                  <a:srgbClr val="3DADFF"/>
                </a:solidFill>
              </a:rPr>
              <a:t>Google OAuth</a:t>
            </a:r>
          </a:p>
        </p:txBody>
      </p:sp>
      <p:sp>
        <p:nvSpPr>
          <p:cNvPr id="20" name="pill-Cloudinary">
            <a:extLst>
              <a:ext uri="{FF2B5EF4-FFF2-40B4-BE49-F238E27FC236}">
                <a16:creationId xmlns:a16="http://schemas.microsoft.com/office/drawing/2014/main" id="{8876C776-BD8B-4CFF-86AC-A4C6397A84F8}"/>
              </a:ext>
            </a:extLst>
          </p:cNvPr>
          <p:cNvSpPr>
            <a:spLocks noGrp="1"/>
          </p:cNvSpPr>
          <p:nvPr/>
        </p:nvSpPr>
        <p:spPr>
          <a:xfrm>
            <a:off x="5238750" y="48577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8EE"/>
          </a:solidFill>
          <a:ln w="9525">
            <a:solidFill>
              <a:srgbClr val="EAF8EE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E9D57"/>
                </a:solidFill>
              </a:defRPr>
            </a:pPr>
            <a:r>
              <a:rPr sz="1200" b="1">
                <a:solidFill>
                  <a:srgbClr val="2E9D57"/>
                </a:solidFill>
              </a:rPr>
              <a:t>Cloudinary</a:t>
            </a:r>
          </a:p>
        </p:txBody>
      </p:sp>
      <p:sp>
        <p:nvSpPr>
          <p:cNvPr id="21" name="pill-Groq">
            <a:extLst>
              <a:ext uri="{FF2B5EF4-FFF2-40B4-BE49-F238E27FC236}">
                <a16:creationId xmlns:a16="http://schemas.microsoft.com/office/drawing/2014/main" id="{F876705B-AA0A-4FA4-AE47-72C0FF8FDBEA}"/>
              </a:ext>
            </a:extLst>
          </p:cNvPr>
          <p:cNvSpPr>
            <a:spLocks noGrp="1"/>
          </p:cNvSpPr>
          <p:nvPr/>
        </p:nvSpPr>
        <p:spPr>
          <a:xfrm>
            <a:off x="7334250" y="48577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 w="9525">
            <a:solidFill>
              <a:srgbClr val="F1ECFF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874FFF"/>
                </a:solidFill>
              </a:defRPr>
            </a:pPr>
            <a:r>
              <a:rPr sz="1200" b="1">
                <a:solidFill>
                  <a:srgbClr val="874FFF"/>
                </a:solidFill>
              </a:rPr>
              <a:t>Groq</a:t>
            </a:r>
          </a:p>
        </p:txBody>
      </p:sp>
      <p:sp>
        <p:nvSpPr>
          <p:cNvPr id="22" name="arch-note">
            <a:extLst>
              <a:ext uri="{FF2B5EF4-FFF2-40B4-BE49-F238E27FC236}">
                <a16:creationId xmlns:a16="http://schemas.microsoft.com/office/drawing/2014/main" id="{111E00E6-C02B-4EAA-B616-D0B34958F519}"/>
              </a:ext>
            </a:extLst>
          </p:cNvPr>
          <p:cNvSpPr>
            <a:spLocks noGrp="1"/>
          </p:cNvSpPr>
          <p:nvPr/>
        </p:nvSpPr>
        <p:spPr>
          <a:xfrm>
            <a:off x="1905000" y="55245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72026"/>
                </a:solidFill>
              </a:defRPr>
            </a:pPr>
            <a:r>
              <a:rPr sz="1425" b="1">
                <a:solidFill>
                  <a:srgbClr val="172026"/>
                </a:solidFill>
              </a:rPr>
              <a:t>External services support identity, file storage and skill extraction — the matching score remains local and rule-based.</a:t>
            </a:r>
          </a:p>
        </p:txBody>
      </p:sp>
      <p:sp>
        <p:nvSpPr>
          <p:cNvPr id="23" name="footer-rule">
            <a:extLst>
              <a:ext uri="{FF2B5EF4-FFF2-40B4-BE49-F238E27FC236}">
                <a16:creationId xmlns:a16="http://schemas.microsoft.com/office/drawing/2014/main" id="{EDF689FC-4225-4060-847F-030DBAC55E2D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10820400" cy="9525"/>
          </a:xfrm>
          <a:prstGeom prst="rect">
            <a:avLst/>
          </a:prstGeom>
          <a:solidFill>
            <a:srgbClr val="D7DEE3"/>
          </a:solidFill>
          <a:ln w="0">
            <a:noFill/>
            <a:prstDash val="solid"/>
          </a:ln>
        </p:spPr>
      </p:sp>
      <p:sp>
        <p:nvSpPr>
          <p:cNvPr id="24" name="footer">
            <a:extLst>
              <a:ext uri="{FF2B5EF4-FFF2-40B4-BE49-F238E27FC236}">
                <a16:creationId xmlns:a16="http://schemas.microsoft.com/office/drawing/2014/main" id="{80F90C6D-906C-4682-A23B-59EB938914D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3616D"/>
                </a:solidFill>
              </a:defRPr>
            </a:pPr>
            <a:r>
              <a:rPr sz="825" b="1">
                <a:solidFill>
                  <a:srgbClr val="53616D"/>
                </a:solidFill>
              </a:rPr>
              <a:t>CREDX  /  SMART JOB MATCHING DASHBOARD</a:t>
            </a:r>
          </a:p>
        </p:txBody>
      </p:sp>
    </p:spTree>
    <p:extLst>
      <p:ext uri="{BB962C8B-B14F-4D97-AF65-F5344CB8AC3E}">
        <p14:creationId xmlns:p14="http://schemas.microsoft.com/office/powerpoint/2010/main" val="988902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kicker-10">
            <a:extLst>
              <a:ext uri="{FF2B5EF4-FFF2-40B4-BE49-F238E27FC236}">
                <a16:creationId xmlns:a16="http://schemas.microsoft.com/office/drawing/2014/main" id="{5841E983-70E3-489B-A50F-0067662015D6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E4512F"/>
                </a:solidFill>
              </a:defRPr>
            </a:pPr>
            <a:r>
              <a:rPr sz="1050" b="1">
                <a:solidFill>
                  <a:srgbClr val="E4512F"/>
                </a:solidFill>
              </a:rPr>
              <a:t>WHY CREDX STANDS OUT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E08DD9B1-628F-4E36-932A-2154470B7931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72026"/>
                </a:solidFill>
              </a:defRPr>
            </a:pPr>
            <a:r>
              <a:rPr sz="2850" b="1">
                <a:solidFill>
                  <a:srgbClr val="172026"/>
                </a:solidFill>
              </a:rPr>
              <a:t>The implementation maps directly to the evaluation criteria</a:t>
            </a:r>
          </a:p>
        </p:txBody>
      </p:sp>
      <p:sp>
        <p:nvSpPr>
          <p:cNvPr id="3" name="page-10">
            <a:extLst>
              <a:ext uri="{FF2B5EF4-FFF2-40B4-BE49-F238E27FC236}">
                <a16:creationId xmlns:a16="http://schemas.microsoft.com/office/drawing/2014/main" id="{F5564907-C8FF-4926-AF41-A1EA2CB9FD0D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3616D"/>
                </a:solidFill>
              </a:defRPr>
            </a:pPr>
            <a:r>
              <a:rPr sz="975" b="1">
                <a:solidFill>
                  <a:srgbClr val="53616D"/>
                </a:solidFill>
              </a:rPr>
              <a:t>10</a:t>
            </a:r>
          </a:p>
        </p:txBody>
      </p:sp>
      <p:sp>
        <p:nvSpPr>
          <p:cNvPr id="4" name="criterion-n-0">
            <a:extLst>
              <a:ext uri="{FF2B5EF4-FFF2-40B4-BE49-F238E27FC236}">
                <a16:creationId xmlns:a16="http://schemas.microsoft.com/office/drawing/2014/main" id="{38DFFC64-BE08-4E2B-8726-A60A1BF4C640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3DADFF"/>
                </a:solidFill>
              </a:defRPr>
            </a:pPr>
            <a:r>
              <a:rPr sz="1800" b="1">
                <a:solidFill>
                  <a:srgbClr val="3DADFF"/>
                </a:solidFill>
              </a:rPr>
              <a:t>01</a:t>
            </a:r>
          </a:p>
        </p:txBody>
      </p:sp>
      <p:sp>
        <p:nvSpPr>
          <p:cNvPr id="5" name="criterion-h-0">
            <a:extLst>
              <a:ext uri="{FF2B5EF4-FFF2-40B4-BE49-F238E27FC236}">
                <a16:creationId xmlns:a16="http://schemas.microsoft.com/office/drawing/2014/main" id="{48A9934F-88B5-405D-98F0-026C7E0BE1A2}"/>
              </a:ext>
            </a:extLst>
          </p:cNvPr>
          <p:cNvSpPr>
            <a:spLocks noGrp="1"/>
          </p:cNvSpPr>
          <p:nvPr/>
        </p:nvSpPr>
        <p:spPr>
          <a:xfrm>
            <a:off x="1352550" y="16573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72026"/>
                </a:solidFill>
              </a:defRPr>
            </a:pPr>
            <a:r>
              <a:rPr sz="1575" b="1">
                <a:solidFill>
                  <a:srgbClr val="172026"/>
                </a:solidFill>
              </a:rPr>
              <a:t>Correct matching logic</a:t>
            </a:r>
          </a:p>
        </p:txBody>
      </p:sp>
      <p:sp>
        <p:nvSpPr>
          <p:cNvPr id="6" name="criterion-b-0">
            <a:extLst>
              <a:ext uri="{FF2B5EF4-FFF2-40B4-BE49-F238E27FC236}">
                <a16:creationId xmlns:a16="http://schemas.microsoft.com/office/drawing/2014/main" id="{9E3B3BB3-1EB5-4EBB-BA23-4B1A9D18F9CF}"/>
              </a:ext>
            </a:extLst>
          </p:cNvPr>
          <p:cNvSpPr>
            <a:spLocks noGrp="1"/>
          </p:cNvSpPr>
          <p:nvPr/>
        </p:nvSpPr>
        <p:spPr>
          <a:xfrm>
            <a:off x="4686300" y="16573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60 / 25 / 15 weighting with an authorization cap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DBE550-10EB-4174-ABBF-96DF32F3C2B9}"/>
              </a:ext>
            </a:extLst>
          </p:cNvPr>
          <p:cNvSpPr>
            <a:spLocks noGrp="1"/>
          </p:cNvSpPr>
          <p:nvPr/>
        </p:nvSpPr>
        <p:spPr>
          <a:xfrm>
            <a:off x="1352550" y="2171700"/>
            <a:ext cx="9525000" cy="9525"/>
          </a:xfrm>
          <a:prstGeom prst="rect">
            <a:avLst/>
          </a:prstGeom>
          <a:solidFill>
            <a:srgbClr val="D7DEE3"/>
          </a:solidFill>
          <a:ln w="0">
            <a:solidFill>
              <a:srgbClr val="D7DEE3"/>
            </a:solidFill>
            <a:prstDash val="solid"/>
          </a:ln>
        </p:spPr>
      </p:sp>
      <p:sp>
        <p:nvSpPr>
          <p:cNvPr id="8" name="criterion-n-1">
            <a:extLst>
              <a:ext uri="{FF2B5EF4-FFF2-40B4-BE49-F238E27FC236}">
                <a16:creationId xmlns:a16="http://schemas.microsoft.com/office/drawing/2014/main" id="{200D33F0-B34C-4F46-BE9D-0E09A427C7F3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E9D57"/>
                </a:solidFill>
              </a:defRPr>
            </a:pPr>
            <a:r>
              <a:rPr sz="1800" b="1">
                <a:solidFill>
                  <a:srgbClr val="2E9D57"/>
                </a:solidFill>
              </a:rPr>
              <a:t>02</a:t>
            </a:r>
          </a:p>
        </p:txBody>
      </p:sp>
      <p:sp>
        <p:nvSpPr>
          <p:cNvPr id="9" name="criterion-h-1">
            <a:extLst>
              <a:ext uri="{FF2B5EF4-FFF2-40B4-BE49-F238E27FC236}">
                <a16:creationId xmlns:a16="http://schemas.microsoft.com/office/drawing/2014/main" id="{DCDB724A-93E6-4508-A304-B940771BF4AC}"/>
              </a:ext>
            </a:extLst>
          </p:cNvPr>
          <p:cNvSpPr>
            <a:spLocks noGrp="1"/>
          </p:cNvSpPr>
          <p:nvPr/>
        </p:nvSpPr>
        <p:spPr>
          <a:xfrm>
            <a:off x="1352550" y="24955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72026"/>
                </a:solidFill>
              </a:defRPr>
            </a:pPr>
            <a:r>
              <a:rPr sz="1575" b="1">
                <a:solidFill>
                  <a:srgbClr val="172026"/>
                </a:solidFill>
              </a:rPr>
              <a:t>End-to-end functionality</a:t>
            </a:r>
          </a:p>
        </p:txBody>
      </p:sp>
      <p:sp>
        <p:nvSpPr>
          <p:cNvPr id="10" name="criterion-b-1">
            <a:extLst>
              <a:ext uri="{FF2B5EF4-FFF2-40B4-BE49-F238E27FC236}">
                <a16:creationId xmlns:a16="http://schemas.microsoft.com/office/drawing/2014/main" id="{C52CC826-85D1-4199-8360-CB2B68A23755}"/>
              </a:ext>
            </a:extLst>
          </p:cNvPr>
          <p:cNvSpPr>
            <a:spLocks noGrp="1"/>
          </p:cNvSpPr>
          <p:nvPr/>
        </p:nvSpPr>
        <p:spPr>
          <a:xfrm>
            <a:off x="4686300" y="24955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Profile → matches → application → recruiter status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549E51-1A10-4CB9-8721-072FB8942C2D}"/>
              </a:ext>
            </a:extLst>
          </p:cNvPr>
          <p:cNvSpPr>
            <a:spLocks noGrp="1"/>
          </p:cNvSpPr>
          <p:nvPr/>
        </p:nvSpPr>
        <p:spPr>
          <a:xfrm>
            <a:off x="1352550" y="3009900"/>
            <a:ext cx="9525000" cy="9525"/>
          </a:xfrm>
          <a:prstGeom prst="rect">
            <a:avLst/>
          </a:prstGeom>
          <a:solidFill>
            <a:srgbClr val="D7DEE3"/>
          </a:solidFill>
          <a:ln w="0">
            <a:solidFill>
              <a:srgbClr val="D7DEE3"/>
            </a:solidFill>
            <a:prstDash val="solid"/>
          </a:ln>
        </p:spPr>
      </p:sp>
      <p:sp>
        <p:nvSpPr>
          <p:cNvPr id="12" name="criterion-n-2">
            <a:extLst>
              <a:ext uri="{FF2B5EF4-FFF2-40B4-BE49-F238E27FC236}">
                <a16:creationId xmlns:a16="http://schemas.microsoft.com/office/drawing/2014/main" id="{FD686434-EF3E-42C1-8853-487DEA979CC7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874FFF"/>
                </a:solidFill>
              </a:defRPr>
            </a:pPr>
            <a:r>
              <a:rPr sz="1800" b="1">
                <a:solidFill>
                  <a:srgbClr val="874FFF"/>
                </a:solidFill>
              </a:rPr>
              <a:t>03</a:t>
            </a:r>
          </a:p>
        </p:txBody>
      </p:sp>
      <p:sp>
        <p:nvSpPr>
          <p:cNvPr id="13" name="criterion-h-2">
            <a:extLst>
              <a:ext uri="{FF2B5EF4-FFF2-40B4-BE49-F238E27FC236}">
                <a16:creationId xmlns:a16="http://schemas.microsoft.com/office/drawing/2014/main" id="{C116F3C1-8F25-448C-8D25-E5AB9C88678F}"/>
              </a:ext>
            </a:extLst>
          </p:cNvPr>
          <p:cNvSpPr>
            <a:spLocks noGrp="1"/>
          </p:cNvSpPr>
          <p:nvPr/>
        </p:nvSpPr>
        <p:spPr>
          <a:xfrm>
            <a:off x="1352550" y="33337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72026"/>
                </a:solidFill>
              </a:defRPr>
            </a:pPr>
            <a:r>
              <a:rPr sz="1575" b="1">
                <a:solidFill>
                  <a:srgbClr val="172026"/>
                </a:solidFill>
              </a:rPr>
              <a:t>Usable filtering</a:t>
            </a:r>
          </a:p>
        </p:txBody>
      </p:sp>
      <p:sp>
        <p:nvSpPr>
          <p:cNvPr id="14" name="criterion-b-2">
            <a:extLst>
              <a:ext uri="{FF2B5EF4-FFF2-40B4-BE49-F238E27FC236}">
                <a16:creationId xmlns:a16="http://schemas.microsoft.com/office/drawing/2014/main" id="{45734391-52E5-44F2-A442-676921C4B365}"/>
              </a:ext>
            </a:extLst>
          </p:cNvPr>
          <p:cNvSpPr>
            <a:spLocks noGrp="1"/>
          </p:cNvSpPr>
          <p:nvPr/>
        </p:nvSpPr>
        <p:spPr>
          <a:xfrm>
            <a:off x="4686300" y="33337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Location, work mode and sponsorship refine discovery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AC120D-D206-48E2-9E2B-722E55CB18C7}"/>
              </a:ext>
            </a:extLst>
          </p:cNvPr>
          <p:cNvSpPr>
            <a:spLocks noGrp="1"/>
          </p:cNvSpPr>
          <p:nvPr/>
        </p:nvSpPr>
        <p:spPr>
          <a:xfrm>
            <a:off x="1352550" y="3848100"/>
            <a:ext cx="9525000" cy="9525"/>
          </a:xfrm>
          <a:prstGeom prst="rect">
            <a:avLst/>
          </a:prstGeom>
          <a:solidFill>
            <a:srgbClr val="D7DEE3"/>
          </a:solidFill>
          <a:ln w="0">
            <a:solidFill>
              <a:srgbClr val="D7DEE3"/>
            </a:solidFill>
            <a:prstDash val="solid"/>
          </a:ln>
        </p:spPr>
      </p:sp>
      <p:sp>
        <p:nvSpPr>
          <p:cNvPr id="16" name="criterion-n-3">
            <a:extLst>
              <a:ext uri="{FF2B5EF4-FFF2-40B4-BE49-F238E27FC236}">
                <a16:creationId xmlns:a16="http://schemas.microsoft.com/office/drawing/2014/main" id="{9C8C7517-B30C-4F48-B10C-4EA648941BDE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E4512F"/>
                </a:solidFill>
              </a:defRPr>
            </a:pPr>
            <a:r>
              <a:rPr sz="1800" b="1">
                <a:solidFill>
                  <a:srgbClr val="E4512F"/>
                </a:solidFill>
              </a:rPr>
              <a:t>04</a:t>
            </a:r>
          </a:p>
        </p:txBody>
      </p:sp>
      <p:sp>
        <p:nvSpPr>
          <p:cNvPr id="17" name="criterion-h-3">
            <a:extLst>
              <a:ext uri="{FF2B5EF4-FFF2-40B4-BE49-F238E27FC236}">
                <a16:creationId xmlns:a16="http://schemas.microsoft.com/office/drawing/2014/main" id="{78F5F245-3EB2-40F4-9EE3-888BE00CB9A1}"/>
              </a:ext>
            </a:extLst>
          </p:cNvPr>
          <p:cNvSpPr>
            <a:spLocks noGrp="1"/>
          </p:cNvSpPr>
          <p:nvPr/>
        </p:nvSpPr>
        <p:spPr>
          <a:xfrm>
            <a:off x="1352550" y="41719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72026"/>
                </a:solidFill>
              </a:defRPr>
            </a:pPr>
            <a:r>
              <a:rPr sz="1575" b="1">
                <a:solidFill>
                  <a:srgbClr val="172026"/>
                </a:solidFill>
              </a:rPr>
              <a:t>Clear explanations</a:t>
            </a:r>
          </a:p>
        </p:txBody>
      </p:sp>
      <p:sp>
        <p:nvSpPr>
          <p:cNvPr id="18" name="criterion-b-3">
            <a:extLst>
              <a:ext uri="{FF2B5EF4-FFF2-40B4-BE49-F238E27FC236}">
                <a16:creationId xmlns:a16="http://schemas.microsoft.com/office/drawing/2014/main" id="{F32BDB77-AD69-4138-8E74-014A85EA35E9}"/>
              </a:ext>
            </a:extLst>
          </p:cNvPr>
          <p:cNvSpPr>
            <a:spLocks noGrp="1"/>
          </p:cNvSpPr>
          <p:nvPr/>
        </p:nvSpPr>
        <p:spPr>
          <a:xfrm>
            <a:off x="4686300" y="41719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Every score exposes its contributing evidence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B82EEE-33F9-41DF-B0F5-FD1469D6B146}"/>
              </a:ext>
            </a:extLst>
          </p:cNvPr>
          <p:cNvSpPr>
            <a:spLocks noGrp="1"/>
          </p:cNvSpPr>
          <p:nvPr/>
        </p:nvSpPr>
        <p:spPr>
          <a:xfrm>
            <a:off x="1352550" y="4686300"/>
            <a:ext cx="9525000" cy="9525"/>
          </a:xfrm>
          <a:prstGeom prst="rect">
            <a:avLst/>
          </a:prstGeom>
          <a:solidFill>
            <a:srgbClr val="D7DEE3"/>
          </a:solidFill>
          <a:ln w="0">
            <a:solidFill>
              <a:srgbClr val="D7DEE3"/>
            </a:solidFill>
            <a:prstDash val="solid"/>
          </a:ln>
        </p:spPr>
      </p:sp>
      <p:sp>
        <p:nvSpPr>
          <p:cNvPr id="20" name="criterion-n-4">
            <a:extLst>
              <a:ext uri="{FF2B5EF4-FFF2-40B4-BE49-F238E27FC236}">
                <a16:creationId xmlns:a16="http://schemas.microsoft.com/office/drawing/2014/main" id="{7D75347B-083B-4083-8EC2-D367D5E86DAD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E8A302"/>
                </a:solidFill>
              </a:defRPr>
            </a:pPr>
            <a:r>
              <a:rPr sz="1800" b="1">
                <a:solidFill>
                  <a:srgbClr val="E8A302"/>
                </a:solidFill>
              </a:rPr>
              <a:t>05</a:t>
            </a:r>
          </a:p>
        </p:txBody>
      </p:sp>
      <p:sp>
        <p:nvSpPr>
          <p:cNvPr id="21" name="criterion-h-4">
            <a:extLst>
              <a:ext uri="{FF2B5EF4-FFF2-40B4-BE49-F238E27FC236}">
                <a16:creationId xmlns:a16="http://schemas.microsoft.com/office/drawing/2014/main" id="{5721C04B-730C-458B-AC29-F15B74FCE841}"/>
              </a:ext>
            </a:extLst>
          </p:cNvPr>
          <p:cNvSpPr>
            <a:spLocks noGrp="1"/>
          </p:cNvSpPr>
          <p:nvPr/>
        </p:nvSpPr>
        <p:spPr>
          <a:xfrm>
            <a:off x="1352550" y="50101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72026"/>
                </a:solidFill>
              </a:defRPr>
            </a:pPr>
            <a:r>
              <a:rPr sz="1575" b="1">
                <a:solidFill>
                  <a:srgbClr val="172026"/>
                </a:solidFill>
              </a:rPr>
              <a:t>Code and API quality</a:t>
            </a:r>
          </a:p>
        </p:txBody>
      </p:sp>
      <p:sp>
        <p:nvSpPr>
          <p:cNvPr id="22" name="criterion-b-4">
            <a:extLst>
              <a:ext uri="{FF2B5EF4-FFF2-40B4-BE49-F238E27FC236}">
                <a16:creationId xmlns:a16="http://schemas.microsoft.com/office/drawing/2014/main" id="{7C9B49DA-46AA-454C-856E-A9FABC7DDB54}"/>
              </a:ext>
            </a:extLst>
          </p:cNvPr>
          <p:cNvSpPr>
            <a:spLocks noGrp="1"/>
          </p:cNvSpPr>
          <p:nvPr/>
        </p:nvSpPr>
        <p:spPr>
          <a:xfrm>
            <a:off x="4686300" y="501015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Modular routes, services, models and validation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A0D85A-2FE9-4564-B66D-48EB679F788C}"/>
              </a:ext>
            </a:extLst>
          </p:cNvPr>
          <p:cNvSpPr>
            <a:spLocks noGrp="1"/>
          </p:cNvSpPr>
          <p:nvPr/>
        </p:nvSpPr>
        <p:spPr>
          <a:xfrm>
            <a:off x="1352550" y="5524500"/>
            <a:ext cx="9525000" cy="9525"/>
          </a:xfrm>
          <a:prstGeom prst="rect">
            <a:avLst/>
          </a:prstGeom>
          <a:solidFill>
            <a:srgbClr val="D7DEE3"/>
          </a:solidFill>
          <a:ln w="0">
            <a:solidFill>
              <a:srgbClr val="D7DEE3"/>
            </a:solidFill>
            <a:prstDash val="solid"/>
          </a:ln>
        </p:spPr>
      </p:sp>
      <p:sp>
        <p:nvSpPr>
          <p:cNvPr id="24" name="footer-rule">
            <a:extLst>
              <a:ext uri="{FF2B5EF4-FFF2-40B4-BE49-F238E27FC236}">
                <a16:creationId xmlns:a16="http://schemas.microsoft.com/office/drawing/2014/main" id="{5F6CA90D-2758-454B-B5FF-DB6AE78358FC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10820400" cy="9525"/>
          </a:xfrm>
          <a:prstGeom prst="rect">
            <a:avLst/>
          </a:prstGeom>
          <a:solidFill>
            <a:srgbClr val="D7DEE3"/>
          </a:solidFill>
          <a:ln w="0">
            <a:noFill/>
            <a:prstDash val="solid"/>
          </a:ln>
        </p:spPr>
      </p:sp>
      <p:sp>
        <p:nvSpPr>
          <p:cNvPr id="25" name="footer">
            <a:extLst>
              <a:ext uri="{FF2B5EF4-FFF2-40B4-BE49-F238E27FC236}">
                <a16:creationId xmlns:a16="http://schemas.microsoft.com/office/drawing/2014/main" id="{89856C97-381F-46D2-8DC0-AF0BF8F3E33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3616D"/>
                </a:solidFill>
              </a:defRPr>
            </a:pPr>
            <a:r>
              <a:rPr sz="825" b="1">
                <a:solidFill>
                  <a:srgbClr val="53616D"/>
                </a:solidFill>
              </a:rPr>
              <a:t>CREDX  /  SMART JOB MATCHING DASHBOARD</a:t>
            </a:r>
          </a:p>
        </p:txBody>
      </p:sp>
    </p:spTree>
    <p:extLst>
      <p:ext uri="{BB962C8B-B14F-4D97-AF65-F5344CB8AC3E}">
        <p14:creationId xmlns:p14="http://schemas.microsoft.com/office/powerpoint/2010/main" val="1635536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lose-kicker">
            <a:extLst>
              <a:ext uri="{FF2B5EF4-FFF2-40B4-BE49-F238E27FC236}">
                <a16:creationId xmlns:a16="http://schemas.microsoft.com/office/drawing/2014/main" id="{6228F38C-00C1-4FAE-8196-019FEE5AF756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E4512F"/>
                </a:solidFill>
              </a:defRPr>
            </a:pPr>
            <a:r>
              <a:rPr sz="1200" b="1">
                <a:solidFill>
                  <a:srgbClr val="E4512F"/>
                </a:solidFill>
              </a:rPr>
              <a:t>THE CREDX DIFFERENCE</a:t>
            </a:r>
          </a:p>
        </p:txBody>
      </p:sp>
      <p:sp>
        <p:nvSpPr>
          <p:cNvPr id="2" name="close-title">
            <a:extLst>
              <a:ext uri="{FF2B5EF4-FFF2-40B4-BE49-F238E27FC236}">
                <a16:creationId xmlns:a16="http://schemas.microsoft.com/office/drawing/2014/main" id="{EF6CEE15-4569-4E9E-B67F-91F9098D35CF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7239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Every recommendation</a:t>
            </a:r>
          </a:p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has visible evidence.</a:t>
            </a:r>
          </a:p>
        </p:txBody>
      </p:sp>
      <p:sp>
        <p:nvSpPr>
          <p:cNvPr id="3" name="close-body">
            <a:extLst>
              <a:ext uri="{FF2B5EF4-FFF2-40B4-BE49-F238E27FC236}">
                <a16:creationId xmlns:a16="http://schemas.microsoft.com/office/drawing/2014/main" id="{727F5B13-BEED-4D75-A0AD-13F737C84C13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723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CBD5DC"/>
                </a:solidFill>
              </a:defRPr>
            </a:pPr>
            <a:r>
              <a:rPr sz="1725" b="0">
                <a:solidFill>
                  <a:srgbClr val="CBD5DC"/>
                </a:solidFill>
              </a:rPr>
              <a:t>CredX connects structured profiles, deterministic scoring, intelligent resume assistance and application tracking into one understandable experience.</a:t>
            </a:r>
          </a:p>
        </p:txBody>
      </p:sp>
      <p:sp>
        <p:nvSpPr>
          <p:cNvPr id="4" name="pill-Ranked">
            <a:extLst>
              <a:ext uri="{FF2B5EF4-FFF2-40B4-BE49-F238E27FC236}">
                <a16:creationId xmlns:a16="http://schemas.microsoft.com/office/drawing/2014/main" id="{53ACF050-664A-4385-A794-3B3238918CB9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619250" cy="361950"/>
          </a:xfrm>
          <a:prstGeom prst="roundRect">
            <a:avLst>
              <a:gd name="adj" fmla="val 50000"/>
            </a:avLst>
          </a:prstGeom>
          <a:solidFill>
            <a:srgbClr val="3DADFF"/>
          </a:solidFill>
          <a:ln w="9525">
            <a:solidFill>
              <a:srgbClr val="3DADFF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Ranked</a:t>
            </a:r>
          </a:p>
        </p:txBody>
      </p:sp>
      <p:sp>
        <p:nvSpPr>
          <p:cNvPr id="5" name="pill-Explainable">
            <a:extLst>
              <a:ext uri="{FF2B5EF4-FFF2-40B4-BE49-F238E27FC236}">
                <a16:creationId xmlns:a16="http://schemas.microsoft.com/office/drawing/2014/main" id="{60123984-0439-4B75-BFFB-45914ECDEA38}"/>
              </a:ext>
            </a:extLst>
          </p:cNvPr>
          <p:cNvSpPr>
            <a:spLocks noGrp="1"/>
          </p:cNvSpPr>
          <p:nvPr/>
        </p:nvSpPr>
        <p:spPr>
          <a:xfrm>
            <a:off x="2495550" y="4857750"/>
            <a:ext cx="1619250" cy="361950"/>
          </a:xfrm>
          <a:prstGeom prst="roundRect">
            <a:avLst>
              <a:gd name="adj" fmla="val 50000"/>
            </a:avLst>
          </a:prstGeom>
          <a:solidFill>
            <a:srgbClr val="E4512F"/>
          </a:solidFill>
          <a:ln w="9525">
            <a:solidFill>
              <a:srgbClr val="E4512F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Explainable</a:t>
            </a:r>
          </a:p>
        </p:txBody>
      </p:sp>
      <p:sp>
        <p:nvSpPr>
          <p:cNvPr id="6" name="pill-Actionable">
            <a:extLst>
              <a:ext uri="{FF2B5EF4-FFF2-40B4-BE49-F238E27FC236}">
                <a16:creationId xmlns:a16="http://schemas.microsoft.com/office/drawing/2014/main" id="{F2F39861-DE55-4F41-94E5-901F7436AFEE}"/>
              </a:ext>
            </a:extLst>
          </p:cNvPr>
          <p:cNvSpPr>
            <a:spLocks noGrp="1"/>
          </p:cNvSpPr>
          <p:nvPr/>
        </p:nvSpPr>
        <p:spPr>
          <a:xfrm>
            <a:off x="4305300" y="4857750"/>
            <a:ext cx="1619250" cy="361950"/>
          </a:xfrm>
          <a:prstGeom prst="roundRect">
            <a:avLst>
              <a:gd name="adj" fmla="val 50000"/>
            </a:avLst>
          </a:prstGeom>
          <a:solidFill>
            <a:srgbClr val="2E9D57"/>
          </a:solidFill>
          <a:ln w="9525">
            <a:solidFill>
              <a:srgbClr val="2E9D57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Actionable</a:t>
            </a:r>
          </a:p>
        </p:txBody>
      </p:sp>
      <p:sp>
        <p:nvSpPr>
          <p:cNvPr id="7" name="close-thanks">
            <a:extLst>
              <a:ext uri="{FF2B5EF4-FFF2-40B4-BE49-F238E27FC236}">
                <a16:creationId xmlns:a16="http://schemas.microsoft.com/office/drawing/2014/main" id="{1982C708-AFBD-4AD5-97AD-5EB1EFEB1D6B}"/>
              </a:ext>
            </a:extLst>
          </p:cNvPr>
          <p:cNvSpPr>
            <a:spLocks noGrp="1"/>
          </p:cNvSpPr>
          <p:nvPr/>
        </p:nvSpPr>
        <p:spPr>
          <a:xfrm>
            <a:off x="8763000" y="5334000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8" name="close-brand">
            <a:extLst>
              <a:ext uri="{FF2B5EF4-FFF2-40B4-BE49-F238E27FC236}">
                <a16:creationId xmlns:a16="http://schemas.microsoft.com/office/drawing/2014/main" id="{65F49EEB-EFE5-4E30-B245-2CF51779A171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8FA0AC"/>
                </a:solidFill>
              </a:defRPr>
            </a:pPr>
            <a:r>
              <a:rPr sz="975" b="1">
                <a:solidFill>
                  <a:srgbClr val="8FA0AC"/>
                </a:solidFill>
              </a:rPr>
              <a:t>CREDX</a:t>
            </a:r>
          </a:p>
        </p:txBody>
      </p:sp>
    </p:spTree>
    <p:extLst>
      <p:ext uri="{BB962C8B-B14F-4D97-AF65-F5344CB8AC3E}">
        <p14:creationId xmlns:p14="http://schemas.microsoft.com/office/powerpoint/2010/main" val="21049826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Microsoft Office PowerPoint</Application>
  <DocSecurity>0</DocSecurity>
  <PresentationFormat>Widescreen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abhi.prajapati2005@outlook.com</cp:lastModifiedBy>
  <cp:revision>1</cp:revision>
  <dcterms:created xsi:type="dcterms:W3CDTF">2026-07-18T10:06:44Z</dcterms:created>
  <dcterms:modified xsi:type="dcterms:W3CDTF">2026-07-18T10:23:35Z</dcterms:modified>
</cp:coreProperties>
</file>